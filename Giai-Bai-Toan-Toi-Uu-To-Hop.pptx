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4630400" cy="8229600"/>
  <p:notesSz cx="8229600" cy="14630400"/>
  <p:embeddedFontLst>
    <p:embeddedFont>
      <p:font typeface="Inter Light" panose="020B0604020202020204" charset="0"/>
      <p:regular r:id="rId22"/>
    </p:embeddedFont>
    <p:embeddedFont>
      <p:font typeface="Montserrat Medium" panose="020F0502020204030204" pitchFamily="2"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18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55301"/>
            <a:ext cx="7556421" cy="4253032"/>
          </a:xfrm>
          <a:prstGeom prst="rect">
            <a:avLst/>
          </a:prstGeom>
          <a:noFill/>
          <a:ln/>
        </p:spPr>
        <p:txBody>
          <a:bodyPr wrap="square" lIns="0" tIns="0" rIns="0" bIns="0" rtlCol="0" anchor="t"/>
          <a:lstStyle/>
          <a:p>
            <a:pPr marL="0" indent="0" algn="l">
              <a:lnSpc>
                <a:spcPts val="11150"/>
              </a:lnSpc>
              <a:buNone/>
            </a:pPr>
            <a:r>
              <a:rPr lang="en-US" sz="8900" dirty="0">
                <a:solidFill>
                  <a:srgbClr val="74767D"/>
                </a:solidFill>
                <a:latin typeface="Montserrat Medium" pitchFamily="34" charset="0"/>
                <a:ea typeface="Montserrat Medium" pitchFamily="34" charset="-122"/>
                <a:cs typeface="Montserrat Medium" pitchFamily="34" charset="-120"/>
              </a:rPr>
              <a:t>Giải Bài Toán Tối Ưu Tổ Hợp</a:t>
            </a:r>
            <a:endParaRPr lang="en-US" sz="8900" dirty="0"/>
          </a:p>
        </p:txBody>
      </p:sp>
      <p:sp>
        <p:nvSpPr>
          <p:cNvPr id="4" name="Text 1"/>
          <p:cNvSpPr/>
          <p:nvPr/>
        </p:nvSpPr>
        <p:spPr>
          <a:xfrm>
            <a:off x="6280190" y="6048494"/>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Sử dụng các thuật toán Heuristic và Metaheuristic cho TSP và N-Queens.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533400" y="419100"/>
            <a:ext cx="10310693" cy="476250"/>
          </a:xfrm>
          <a:prstGeom prst="rect">
            <a:avLst/>
          </a:prstGeom>
          <a:noFill/>
          <a:ln/>
        </p:spPr>
        <p:txBody>
          <a:bodyPr wrap="none" lIns="0" tIns="0" rIns="0" bIns="0" rtlCol="0" anchor="t"/>
          <a:lstStyle/>
          <a:p>
            <a:pPr marL="0" indent="0" algn="l">
              <a:lnSpc>
                <a:spcPts val="3750"/>
              </a:lnSpc>
              <a:buNone/>
            </a:pPr>
            <a:r>
              <a:rPr lang="en-US" sz="3000" dirty="0">
                <a:solidFill>
                  <a:srgbClr val="74767D"/>
                </a:solidFill>
                <a:latin typeface="Montserrat Medium" pitchFamily="34" charset="0"/>
                <a:ea typeface="Montserrat Medium" pitchFamily="34" charset="-122"/>
                <a:cs typeface="Montserrat Medium" pitchFamily="34" charset="-120"/>
              </a:rPr>
              <a:t>Chương I: Bài Toán Traveling Salesman Problem (TSP)</a:t>
            </a:r>
            <a:endParaRPr lang="en-US" sz="3000" dirty="0"/>
          </a:p>
        </p:txBody>
      </p:sp>
      <p:sp>
        <p:nvSpPr>
          <p:cNvPr id="3" name="Text 1"/>
          <p:cNvSpPr/>
          <p:nvPr/>
        </p:nvSpPr>
        <p:spPr>
          <a:xfrm>
            <a:off x="533400" y="1276350"/>
            <a:ext cx="1905119" cy="238125"/>
          </a:xfrm>
          <a:prstGeom prst="rect">
            <a:avLst/>
          </a:prstGeom>
          <a:noFill/>
          <a:ln/>
        </p:spPr>
        <p:txBody>
          <a:bodyPr wrap="none" lIns="0" tIns="0" rIns="0" bIns="0" rtlCol="0" anchor="t"/>
          <a:lstStyle/>
          <a:p>
            <a:pPr marL="0" indent="0" algn="l">
              <a:lnSpc>
                <a:spcPts val="1850"/>
              </a:lnSpc>
              <a:buNone/>
            </a:pPr>
            <a:r>
              <a:rPr lang="en-US" sz="1500" dirty="0">
                <a:solidFill>
                  <a:srgbClr val="74767D"/>
                </a:solidFill>
                <a:latin typeface="Montserrat Medium" pitchFamily="34" charset="0"/>
                <a:ea typeface="Montserrat Medium" pitchFamily="34" charset="-122"/>
                <a:cs typeface="Montserrat Medium" pitchFamily="34" charset="-120"/>
              </a:rPr>
              <a:t>Mục Tiêu Bài Toán</a:t>
            </a:r>
            <a:endParaRPr lang="en-US" sz="1500" dirty="0"/>
          </a:p>
        </p:txBody>
      </p:sp>
      <p:sp>
        <p:nvSpPr>
          <p:cNvPr id="4" name="Text 2"/>
          <p:cNvSpPr/>
          <p:nvPr/>
        </p:nvSpPr>
        <p:spPr>
          <a:xfrm>
            <a:off x="533400" y="1666875"/>
            <a:ext cx="7989451" cy="487680"/>
          </a:xfrm>
          <a:prstGeom prst="rect">
            <a:avLst/>
          </a:prstGeom>
          <a:noFill/>
          <a:ln/>
        </p:spPr>
        <p:txBody>
          <a:bodyPr wrap="square" lIns="0" tIns="0" rIns="0" bIns="0" rtlCol="0" anchor="t"/>
          <a:lstStyle/>
          <a:p>
            <a:pPr marL="0" indent="0" algn="l">
              <a:lnSpc>
                <a:spcPts val="1900"/>
              </a:lnSpc>
              <a:buNone/>
            </a:pPr>
            <a:r>
              <a:rPr lang="en-US" sz="1200" dirty="0">
                <a:solidFill>
                  <a:srgbClr val="3D3E44"/>
                </a:solidFill>
                <a:latin typeface="Inter Light" pitchFamily="34" charset="0"/>
                <a:ea typeface="Inter Light" pitchFamily="34" charset="-122"/>
                <a:cs typeface="Inter Light" pitchFamily="34" charset="-120"/>
              </a:rPr>
              <a:t>TSP là bài toán tối ưu tổ hợp NP-hard, nhằm tìm hành trình ngắn nhất đi qua tất cả các thành phố đúng một lần và quay lại điểm xuất phát.</a:t>
            </a:r>
            <a:endParaRPr lang="en-US" sz="1200" dirty="0"/>
          </a:p>
        </p:txBody>
      </p:sp>
      <p:sp>
        <p:nvSpPr>
          <p:cNvPr id="5" name="Shape 3"/>
          <p:cNvSpPr/>
          <p:nvPr/>
        </p:nvSpPr>
        <p:spPr>
          <a:xfrm>
            <a:off x="533400" y="2326005"/>
            <a:ext cx="7989451" cy="647700"/>
          </a:xfrm>
          <a:prstGeom prst="roundRect">
            <a:avLst>
              <a:gd name="adj" fmla="val 21178"/>
            </a:avLst>
          </a:prstGeom>
          <a:solidFill>
            <a:srgbClr val="D0D2E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85800" y="2558415"/>
            <a:ext cx="190500" cy="152400"/>
          </a:xfrm>
          <a:prstGeom prst="rect">
            <a:avLst/>
          </a:prstGeom>
        </p:spPr>
      </p:pic>
      <p:sp>
        <p:nvSpPr>
          <p:cNvPr id="7" name="Text 4"/>
          <p:cNvSpPr/>
          <p:nvPr/>
        </p:nvSpPr>
        <p:spPr>
          <a:xfrm>
            <a:off x="1028700" y="2516505"/>
            <a:ext cx="7341751" cy="243840"/>
          </a:xfrm>
          <a:prstGeom prst="rect">
            <a:avLst/>
          </a:prstGeom>
          <a:noFill/>
          <a:ln/>
        </p:spPr>
        <p:txBody>
          <a:bodyPr wrap="none" lIns="0" tIns="0" rIns="0" bIns="0" rtlCol="0" anchor="t"/>
          <a:lstStyle/>
          <a:p>
            <a:pPr marL="0" indent="0" algn="l">
              <a:lnSpc>
                <a:spcPts val="1900"/>
              </a:lnSpc>
              <a:buNone/>
            </a:pPr>
            <a:r>
              <a:rPr lang="en-US" sz="1200" dirty="0">
                <a:solidFill>
                  <a:srgbClr val="000000"/>
                </a:solidFill>
                <a:latin typeface="Inter Light" pitchFamily="34" charset="0"/>
                <a:ea typeface="Inter Light" pitchFamily="34" charset="-122"/>
                <a:cs typeface="Inter Light" pitchFamily="34" charset="-120"/>
              </a:rPr>
              <a:t>Ứng dụng thực tiễn: vận tải, logistics, lập lịch, tối ưu hóa đường đi robot.</a:t>
            </a:r>
            <a:endParaRPr lang="en-US" sz="1200" dirty="0"/>
          </a:p>
        </p:txBody>
      </p:sp>
      <p:pic>
        <p:nvPicPr>
          <p:cNvPr id="8" name="Image 1" descr="preencoded.png"/>
          <p:cNvPicPr>
            <a:picLocks noChangeAspect="1"/>
          </p:cNvPicPr>
          <p:nvPr/>
        </p:nvPicPr>
        <p:blipFill>
          <a:blip r:embed="rId4"/>
          <a:stretch>
            <a:fillRect/>
          </a:stretch>
        </p:blipFill>
        <p:spPr>
          <a:xfrm>
            <a:off x="8902184" y="1295400"/>
            <a:ext cx="5202317" cy="3722649"/>
          </a:xfrm>
          <a:prstGeom prst="rect">
            <a:avLst/>
          </a:prstGeom>
        </p:spPr>
      </p:pic>
      <p:sp>
        <p:nvSpPr>
          <p:cNvPr id="9" name="Text 5"/>
          <p:cNvSpPr/>
          <p:nvPr/>
        </p:nvSpPr>
        <p:spPr>
          <a:xfrm>
            <a:off x="510540" y="5413261"/>
            <a:ext cx="4015740" cy="381000"/>
          </a:xfrm>
          <a:prstGeom prst="rect">
            <a:avLst/>
          </a:prstGeom>
          <a:noFill/>
          <a:ln/>
        </p:spPr>
        <p:txBody>
          <a:bodyPr wrap="none" lIns="0" tIns="0" rIns="0" bIns="0" rtlCol="0" anchor="t"/>
          <a:lstStyle/>
          <a:p>
            <a:pPr marL="0" indent="0" algn="l">
              <a:lnSpc>
                <a:spcPts val="3000"/>
              </a:lnSpc>
              <a:buNone/>
            </a:pPr>
            <a:r>
              <a:rPr lang="en-US" sz="2400" dirty="0">
                <a:solidFill>
                  <a:srgbClr val="74767D"/>
                </a:solidFill>
                <a:latin typeface="Montserrat Medium" pitchFamily="34" charset="0"/>
                <a:ea typeface="Montserrat Medium" pitchFamily="34" charset="-122"/>
                <a:cs typeface="Montserrat Medium" pitchFamily="34" charset="-120"/>
              </a:rPr>
              <a:t>Các Thuật Toán Triển Khai</a:t>
            </a:r>
            <a:endParaRPr lang="en-US" sz="2400" dirty="0"/>
          </a:p>
        </p:txBody>
      </p:sp>
      <p:sp>
        <p:nvSpPr>
          <p:cNvPr id="10" name="Shape 6"/>
          <p:cNvSpPr/>
          <p:nvPr/>
        </p:nvSpPr>
        <p:spPr>
          <a:xfrm>
            <a:off x="510540" y="6022861"/>
            <a:ext cx="4419600" cy="1167765"/>
          </a:xfrm>
          <a:prstGeom prst="roundRect">
            <a:avLst>
              <a:gd name="adj" fmla="val 9396"/>
            </a:avLst>
          </a:prstGeom>
          <a:solidFill>
            <a:srgbClr val="FFFFFF"/>
          </a:solidFill>
          <a:ln w="22860">
            <a:solidFill>
              <a:srgbClr val="C5C7D2"/>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487680" y="6022861"/>
            <a:ext cx="91440" cy="1167765"/>
          </a:xfrm>
          <a:prstGeom prst="rect">
            <a:avLst/>
          </a:prstGeom>
        </p:spPr>
      </p:pic>
      <p:sp>
        <p:nvSpPr>
          <p:cNvPr id="12" name="Text 7"/>
          <p:cNvSpPr/>
          <p:nvPr/>
        </p:nvSpPr>
        <p:spPr>
          <a:xfrm>
            <a:off x="754380" y="6198121"/>
            <a:ext cx="2446258" cy="238125"/>
          </a:xfrm>
          <a:prstGeom prst="rect">
            <a:avLst/>
          </a:prstGeom>
          <a:noFill/>
          <a:ln/>
        </p:spPr>
        <p:txBody>
          <a:bodyPr wrap="none" lIns="0" tIns="0" rIns="0" bIns="0" rtlCol="0" anchor="t"/>
          <a:lstStyle/>
          <a:p>
            <a:pPr marL="0" indent="0" algn="l">
              <a:lnSpc>
                <a:spcPts val="1850"/>
              </a:lnSpc>
              <a:buNone/>
            </a:pPr>
            <a:r>
              <a:rPr lang="en-US" sz="1500" dirty="0">
                <a:solidFill>
                  <a:srgbClr val="3D3E44"/>
                </a:solidFill>
                <a:latin typeface="Montserrat Medium" pitchFamily="34" charset="0"/>
                <a:ea typeface="Montserrat Medium" pitchFamily="34" charset="-122"/>
                <a:cs typeface="Montserrat Medium" pitchFamily="34" charset="-120"/>
              </a:rPr>
              <a:t>Hill Climbing (3 Biến Thể)</a:t>
            </a:r>
            <a:endParaRPr lang="en-US" sz="1500" dirty="0"/>
          </a:p>
        </p:txBody>
      </p:sp>
      <p:sp>
        <p:nvSpPr>
          <p:cNvPr id="13" name="Text 8"/>
          <p:cNvSpPr/>
          <p:nvPr/>
        </p:nvSpPr>
        <p:spPr>
          <a:xfrm>
            <a:off x="754380" y="6527686"/>
            <a:ext cx="4000500" cy="487680"/>
          </a:xfrm>
          <a:prstGeom prst="rect">
            <a:avLst/>
          </a:prstGeom>
          <a:noFill/>
          <a:ln/>
        </p:spPr>
        <p:txBody>
          <a:bodyPr wrap="square" lIns="0" tIns="0" rIns="0" bIns="0" rtlCol="0" anchor="t"/>
          <a:lstStyle/>
          <a:p>
            <a:pPr marL="0" indent="0" algn="l">
              <a:lnSpc>
                <a:spcPts val="1900"/>
              </a:lnSpc>
              <a:buNone/>
            </a:pPr>
            <a:r>
              <a:rPr lang="en-US" sz="1200" dirty="0">
                <a:solidFill>
                  <a:srgbClr val="3D3E44"/>
                </a:solidFill>
                <a:latin typeface="Inter Light" pitchFamily="34" charset="0"/>
                <a:ea typeface="Inter Light" pitchFamily="34" charset="-122"/>
                <a:cs typeface="Inter Light" pitchFamily="34" charset="-120"/>
              </a:rPr>
              <a:t>Steepest-Ascent (có Random Restarts), Stochastic, First-choice.</a:t>
            </a:r>
            <a:endParaRPr lang="en-US" sz="1200" dirty="0"/>
          </a:p>
        </p:txBody>
      </p:sp>
      <p:sp>
        <p:nvSpPr>
          <p:cNvPr id="14" name="Shape 9"/>
          <p:cNvSpPr/>
          <p:nvPr/>
        </p:nvSpPr>
        <p:spPr>
          <a:xfrm>
            <a:off x="5082540" y="6022861"/>
            <a:ext cx="4419600" cy="1167765"/>
          </a:xfrm>
          <a:prstGeom prst="roundRect">
            <a:avLst>
              <a:gd name="adj" fmla="val 9396"/>
            </a:avLst>
          </a:prstGeom>
          <a:solidFill>
            <a:srgbClr val="FFFFFF"/>
          </a:solidFill>
          <a:ln w="22860">
            <a:solidFill>
              <a:srgbClr val="C5C7D2"/>
            </a:solidFill>
            <a:prstDash val="solid"/>
          </a:ln>
        </p:spPr>
        <p:txBody>
          <a:bodyPr/>
          <a:lstStyle/>
          <a:p>
            <a:endParaRPr lang="en-US"/>
          </a:p>
        </p:txBody>
      </p:sp>
      <p:pic>
        <p:nvPicPr>
          <p:cNvPr id="15" name="Image 3" descr="preencoded.png"/>
          <p:cNvPicPr>
            <a:picLocks noChangeAspect="1"/>
          </p:cNvPicPr>
          <p:nvPr/>
        </p:nvPicPr>
        <p:blipFill>
          <a:blip r:embed="rId5"/>
          <a:stretch>
            <a:fillRect/>
          </a:stretch>
        </p:blipFill>
        <p:spPr>
          <a:xfrm>
            <a:off x="5059680" y="6022861"/>
            <a:ext cx="91440" cy="1167765"/>
          </a:xfrm>
          <a:prstGeom prst="rect">
            <a:avLst/>
          </a:prstGeom>
        </p:spPr>
      </p:pic>
      <p:sp>
        <p:nvSpPr>
          <p:cNvPr id="16" name="Text 10"/>
          <p:cNvSpPr/>
          <p:nvPr/>
        </p:nvSpPr>
        <p:spPr>
          <a:xfrm>
            <a:off x="5326380" y="6198121"/>
            <a:ext cx="2473762" cy="238125"/>
          </a:xfrm>
          <a:prstGeom prst="rect">
            <a:avLst/>
          </a:prstGeom>
          <a:noFill/>
          <a:ln/>
        </p:spPr>
        <p:txBody>
          <a:bodyPr wrap="none" lIns="0" tIns="0" rIns="0" bIns="0" rtlCol="0" anchor="t"/>
          <a:lstStyle/>
          <a:p>
            <a:pPr marL="0" indent="0" algn="l">
              <a:lnSpc>
                <a:spcPts val="1850"/>
              </a:lnSpc>
              <a:buNone/>
            </a:pPr>
            <a:r>
              <a:rPr lang="en-US" sz="1500" dirty="0">
                <a:solidFill>
                  <a:srgbClr val="3D3E44"/>
                </a:solidFill>
                <a:latin typeface="Montserrat Medium" pitchFamily="34" charset="0"/>
                <a:ea typeface="Montserrat Medium" pitchFamily="34" charset="-122"/>
                <a:cs typeface="Montserrat Medium" pitchFamily="34" charset="-120"/>
              </a:rPr>
              <a:t>Simulated Annealing (SA)</a:t>
            </a:r>
            <a:endParaRPr lang="en-US" sz="1500" dirty="0"/>
          </a:p>
        </p:txBody>
      </p:sp>
      <p:sp>
        <p:nvSpPr>
          <p:cNvPr id="17" name="Text 11"/>
          <p:cNvSpPr/>
          <p:nvPr/>
        </p:nvSpPr>
        <p:spPr>
          <a:xfrm>
            <a:off x="5326380" y="6527686"/>
            <a:ext cx="4000500" cy="487680"/>
          </a:xfrm>
          <a:prstGeom prst="rect">
            <a:avLst/>
          </a:prstGeom>
          <a:noFill/>
          <a:ln/>
        </p:spPr>
        <p:txBody>
          <a:bodyPr wrap="square" lIns="0" tIns="0" rIns="0" bIns="0" rtlCol="0" anchor="t"/>
          <a:lstStyle/>
          <a:p>
            <a:pPr marL="0" indent="0" algn="l">
              <a:lnSpc>
                <a:spcPts val="1900"/>
              </a:lnSpc>
              <a:buNone/>
            </a:pPr>
            <a:r>
              <a:rPr lang="en-US" sz="1200" dirty="0">
                <a:solidFill>
                  <a:srgbClr val="3D3E44"/>
                </a:solidFill>
                <a:latin typeface="Inter Light" pitchFamily="34" charset="0"/>
                <a:ea typeface="Inter Light" pitchFamily="34" charset="-122"/>
                <a:cs typeface="Inter Light" pitchFamily="34" charset="-120"/>
              </a:rPr>
              <a:t>Dựa trên quá trình nung chảy vật lý, chấp nhận nghiệm kém hơn để thoát cực trị địa phương.</a:t>
            </a:r>
            <a:endParaRPr lang="en-US" sz="1200" dirty="0"/>
          </a:p>
        </p:txBody>
      </p:sp>
      <p:sp>
        <p:nvSpPr>
          <p:cNvPr id="18" name="Shape 12"/>
          <p:cNvSpPr/>
          <p:nvPr/>
        </p:nvSpPr>
        <p:spPr>
          <a:xfrm>
            <a:off x="9654540" y="6022861"/>
            <a:ext cx="4419600" cy="1167765"/>
          </a:xfrm>
          <a:prstGeom prst="roundRect">
            <a:avLst>
              <a:gd name="adj" fmla="val 9396"/>
            </a:avLst>
          </a:prstGeom>
          <a:solidFill>
            <a:srgbClr val="FFFFFF"/>
          </a:solidFill>
          <a:ln w="22860">
            <a:solidFill>
              <a:srgbClr val="C5C7D2"/>
            </a:solidFill>
            <a:prstDash val="solid"/>
          </a:ln>
        </p:spPr>
        <p:txBody>
          <a:bodyPr/>
          <a:lstStyle/>
          <a:p>
            <a:endParaRPr lang="en-US"/>
          </a:p>
        </p:txBody>
      </p:sp>
      <p:pic>
        <p:nvPicPr>
          <p:cNvPr id="19" name="Image 4" descr="preencoded.png"/>
          <p:cNvPicPr>
            <a:picLocks noChangeAspect="1"/>
          </p:cNvPicPr>
          <p:nvPr/>
        </p:nvPicPr>
        <p:blipFill>
          <a:blip r:embed="rId5"/>
          <a:stretch>
            <a:fillRect/>
          </a:stretch>
        </p:blipFill>
        <p:spPr>
          <a:xfrm>
            <a:off x="9631680" y="6022861"/>
            <a:ext cx="91440" cy="1167765"/>
          </a:xfrm>
          <a:prstGeom prst="rect">
            <a:avLst/>
          </a:prstGeom>
        </p:spPr>
      </p:pic>
      <p:sp>
        <p:nvSpPr>
          <p:cNvPr id="20" name="Text 13"/>
          <p:cNvSpPr/>
          <p:nvPr/>
        </p:nvSpPr>
        <p:spPr>
          <a:xfrm>
            <a:off x="9898380" y="6198121"/>
            <a:ext cx="2252782" cy="238125"/>
          </a:xfrm>
          <a:prstGeom prst="rect">
            <a:avLst/>
          </a:prstGeom>
          <a:noFill/>
          <a:ln/>
        </p:spPr>
        <p:txBody>
          <a:bodyPr wrap="none" lIns="0" tIns="0" rIns="0" bIns="0" rtlCol="0" anchor="t"/>
          <a:lstStyle/>
          <a:p>
            <a:pPr marL="0" indent="0" algn="l">
              <a:lnSpc>
                <a:spcPts val="1850"/>
              </a:lnSpc>
              <a:buNone/>
            </a:pPr>
            <a:r>
              <a:rPr lang="en-US" sz="1500" dirty="0">
                <a:solidFill>
                  <a:srgbClr val="3D3E44"/>
                </a:solidFill>
                <a:latin typeface="Montserrat Medium" pitchFamily="34" charset="0"/>
                <a:ea typeface="Montserrat Medium" pitchFamily="34" charset="-122"/>
                <a:cs typeface="Montserrat Medium" pitchFamily="34" charset="-120"/>
              </a:rPr>
              <a:t>Genetic Algorithm (GA)</a:t>
            </a:r>
            <a:endParaRPr lang="en-US" sz="1500" dirty="0"/>
          </a:p>
        </p:txBody>
      </p:sp>
      <p:sp>
        <p:nvSpPr>
          <p:cNvPr id="21" name="Text 14"/>
          <p:cNvSpPr/>
          <p:nvPr/>
        </p:nvSpPr>
        <p:spPr>
          <a:xfrm>
            <a:off x="9898380" y="6527686"/>
            <a:ext cx="4000500" cy="487680"/>
          </a:xfrm>
          <a:prstGeom prst="rect">
            <a:avLst/>
          </a:prstGeom>
          <a:noFill/>
          <a:ln/>
        </p:spPr>
        <p:txBody>
          <a:bodyPr wrap="square" lIns="0" tIns="0" rIns="0" bIns="0" rtlCol="0" anchor="t"/>
          <a:lstStyle/>
          <a:p>
            <a:pPr marL="0" indent="0" algn="l">
              <a:lnSpc>
                <a:spcPts val="1900"/>
              </a:lnSpc>
              <a:buNone/>
            </a:pPr>
            <a:r>
              <a:rPr lang="en-US" sz="1200" dirty="0">
                <a:solidFill>
                  <a:srgbClr val="3D3E44"/>
                </a:solidFill>
                <a:latin typeface="Inter Light" pitchFamily="34" charset="0"/>
                <a:ea typeface="Inter Light" pitchFamily="34" charset="-122"/>
                <a:cs typeface="Inter Light" pitchFamily="34" charset="-120"/>
              </a:rPr>
              <a:t>Mô phỏng tiến hóa sinh học: Selection, Crossover, Mutation.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2063591"/>
            <a:ext cx="10637044"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Chi Tiết Các Thuật Toán Hill Climbing</a:t>
            </a:r>
            <a:endParaRPr lang="en-US" sz="4450" dirty="0"/>
          </a:p>
        </p:txBody>
      </p:sp>
      <p:pic>
        <p:nvPicPr>
          <p:cNvPr id="3" name="Image 0" descr="preencoded.png"/>
          <p:cNvPicPr>
            <a:picLocks noChangeAspect="1"/>
          </p:cNvPicPr>
          <p:nvPr/>
        </p:nvPicPr>
        <p:blipFill>
          <a:blip r:embed="rId3"/>
          <a:stretch>
            <a:fillRect/>
          </a:stretch>
        </p:blipFill>
        <p:spPr>
          <a:xfrm>
            <a:off x="793790" y="3225998"/>
            <a:ext cx="4347567" cy="907256"/>
          </a:xfrm>
          <a:prstGeom prst="rect">
            <a:avLst/>
          </a:prstGeom>
        </p:spPr>
      </p:pic>
      <p:sp>
        <p:nvSpPr>
          <p:cNvPr id="4" name="Text 1"/>
          <p:cNvSpPr/>
          <p:nvPr/>
        </p:nvSpPr>
        <p:spPr>
          <a:xfrm>
            <a:off x="1020604" y="4360069"/>
            <a:ext cx="2861191"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Steepest-Ascent HC</a:t>
            </a:r>
            <a:endParaRPr lang="en-US" sz="2200" dirty="0"/>
          </a:p>
        </p:txBody>
      </p:sp>
      <p:sp>
        <p:nvSpPr>
          <p:cNvPr id="5" name="Text 2"/>
          <p:cNvSpPr/>
          <p:nvPr/>
        </p:nvSpPr>
        <p:spPr>
          <a:xfrm>
            <a:off x="1020604" y="4850487"/>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Chọn neighbor tốt nhất. Dùng Random Restarts để tránh cực trị địa phương.</a:t>
            </a:r>
            <a:endParaRPr lang="en-US" sz="1750" dirty="0"/>
          </a:p>
        </p:txBody>
      </p:sp>
      <p:pic>
        <p:nvPicPr>
          <p:cNvPr id="6" name="Image 1" descr="preencoded.png"/>
          <p:cNvPicPr>
            <a:picLocks noChangeAspect="1"/>
          </p:cNvPicPr>
          <p:nvPr/>
        </p:nvPicPr>
        <p:blipFill>
          <a:blip r:embed="rId4"/>
          <a:stretch>
            <a:fillRect/>
          </a:stretch>
        </p:blipFill>
        <p:spPr>
          <a:xfrm>
            <a:off x="5141357" y="3225998"/>
            <a:ext cx="4347567" cy="907256"/>
          </a:xfrm>
          <a:prstGeom prst="rect">
            <a:avLst/>
          </a:prstGeom>
        </p:spPr>
      </p:pic>
      <p:sp>
        <p:nvSpPr>
          <p:cNvPr id="7" name="Text 3"/>
          <p:cNvSpPr/>
          <p:nvPr/>
        </p:nvSpPr>
        <p:spPr>
          <a:xfrm>
            <a:off x="5368171" y="43600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Stochastic HC</a:t>
            </a:r>
            <a:endParaRPr lang="en-US" sz="2200" dirty="0"/>
          </a:p>
        </p:txBody>
      </p:sp>
      <p:sp>
        <p:nvSpPr>
          <p:cNvPr id="8" name="Text 4"/>
          <p:cNvSpPr/>
          <p:nvPr/>
        </p:nvSpPr>
        <p:spPr>
          <a:xfrm>
            <a:off x="5368171" y="4850487"/>
            <a:ext cx="3893939"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Chọn ngẫu nhiên neighbor cải thiện kết quả. Giúp tránh bị kẹt sớm.</a:t>
            </a:r>
            <a:endParaRPr lang="en-US" sz="1750" dirty="0"/>
          </a:p>
        </p:txBody>
      </p:sp>
      <p:pic>
        <p:nvPicPr>
          <p:cNvPr id="9" name="Image 2" descr="preencoded.png"/>
          <p:cNvPicPr>
            <a:picLocks noChangeAspect="1"/>
          </p:cNvPicPr>
          <p:nvPr/>
        </p:nvPicPr>
        <p:blipFill>
          <a:blip r:embed="rId5"/>
          <a:stretch>
            <a:fillRect/>
          </a:stretch>
        </p:blipFill>
        <p:spPr>
          <a:xfrm>
            <a:off x="9488924" y="3225998"/>
            <a:ext cx="4347567" cy="907256"/>
          </a:xfrm>
          <a:prstGeom prst="rect">
            <a:avLst/>
          </a:prstGeom>
        </p:spPr>
      </p:pic>
      <p:sp>
        <p:nvSpPr>
          <p:cNvPr id="10" name="Text 5"/>
          <p:cNvSpPr/>
          <p:nvPr/>
        </p:nvSpPr>
        <p:spPr>
          <a:xfrm>
            <a:off x="9715738" y="43600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First-choice HC</a:t>
            </a:r>
            <a:endParaRPr lang="en-US" sz="2200" dirty="0"/>
          </a:p>
        </p:txBody>
      </p:sp>
      <p:sp>
        <p:nvSpPr>
          <p:cNvPr id="11" name="Text 6"/>
          <p:cNvSpPr/>
          <p:nvPr/>
        </p:nvSpPr>
        <p:spPr>
          <a:xfrm>
            <a:off x="9715738" y="4850487"/>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Chấp nhận neighbor ngẫu nhiên đầu tiên tốt hơn trạng thái hiện tại. Giảm chi phí tính toán.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793790" y="660321"/>
            <a:ext cx="6907530"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Chi Tiết Các Thuật Toán </a:t>
            </a:r>
            <a:endParaRPr lang="en-US" sz="4450" dirty="0"/>
          </a:p>
        </p:txBody>
      </p:sp>
      <p:pic>
        <p:nvPicPr>
          <p:cNvPr id="3" name="Image 0" descr="preencoded.png"/>
          <p:cNvPicPr>
            <a:picLocks noChangeAspect="1"/>
          </p:cNvPicPr>
          <p:nvPr/>
        </p:nvPicPr>
        <p:blipFill>
          <a:blip r:embed="rId3"/>
          <a:stretch>
            <a:fillRect/>
          </a:stretch>
        </p:blipFill>
        <p:spPr>
          <a:xfrm>
            <a:off x="793790" y="1822728"/>
            <a:ext cx="6521410" cy="907256"/>
          </a:xfrm>
          <a:prstGeom prst="rect">
            <a:avLst/>
          </a:prstGeom>
        </p:spPr>
      </p:pic>
      <p:sp>
        <p:nvSpPr>
          <p:cNvPr id="4" name="Text 1"/>
          <p:cNvSpPr/>
          <p:nvPr/>
        </p:nvSpPr>
        <p:spPr>
          <a:xfrm>
            <a:off x="1020604" y="2956798"/>
            <a:ext cx="3679627"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Simulated Annealing (SA)</a:t>
            </a:r>
            <a:endParaRPr lang="en-US" sz="2200" dirty="0"/>
          </a:p>
        </p:txBody>
      </p:sp>
      <p:sp>
        <p:nvSpPr>
          <p:cNvPr id="5" name="Text 2"/>
          <p:cNvSpPr/>
          <p:nvPr/>
        </p:nvSpPr>
        <p:spPr>
          <a:xfrm>
            <a:off x="1020604" y="3447217"/>
            <a:ext cx="6067782" cy="1814513"/>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Simulated Annealing (SA) là một metaheuristic dựa trên quá trình </a:t>
            </a:r>
            <a:r>
              <a:rPr lang="en-US" sz="1750" b="1" dirty="0">
                <a:solidFill>
                  <a:srgbClr val="3D3E44"/>
                </a:solidFill>
                <a:latin typeface="Inter Light" pitchFamily="34" charset="0"/>
                <a:ea typeface="Inter Light" pitchFamily="34" charset="-122"/>
                <a:cs typeface="Inter Light" pitchFamily="34" charset="-120"/>
              </a:rPr>
              <a:t>nung chảy vật lý</a:t>
            </a:r>
            <a:r>
              <a:rPr lang="en-US" sz="1750" dirty="0">
                <a:solidFill>
                  <a:srgbClr val="3D3E44"/>
                </a:solidFill>
                <a:latin typeface="Inter Light" pitchFamily="34" charset="0"/>
                <a:ea typeface="Inter Light" pitchFamily="34" charset="-122"/>
                <a:cs typeface="Inter Light" pitchFamily="34" charset="-120"/>
              </a:rPr>
              <a:t>. SA đôi khi cho phép chấp nhận lời giải kém hơn với một xác suất phụ thuộc vào nhiệt độ TTT, giúp thuật toán thoát khỏi cực trị địa phương. Nhiệt độ sẽ giảm dần theo thời gian.</a:t>
            </a:r>
            <a:endParaRPr lang="en-US" sz="1750" dirty="0"/>
          </a:p>
        </p:txBody>
      </p:sp>
      <p:pic>
        <p:nvPicPr>
          <p:cNvPr id="6" name="Image 1" descr="preencoded.png"/>
          <p:cNvPicPr>
            <a:picLocks noChangeAspect="1"/>
          </p:cNvPicPr>
          <p:nvPr/>
        </p:nvPicPr>
        <p:blipFill>
          <a:blip r:embed="rId4"/>
          <a:stretch>
            <a:fillRect/>
          </a:stretch>
        </p:blipFill>
        <p:spPr>
          <a:xfrm>
            <a:off x="7315200" y="1822728"/>
            <a:ext cx="6521410" cy="907256"/>
          </a:xfrm>
          <a:prstGeom prst="rect">
            <a:avLst/>
          </a:prstGeom>
        </p:spPr>
      </p:pic>
      <p:sp>
        <p:nvSpPr>
          <p:cNvPr id="7" name="Text 3"/>
          <p:cNvSpPr/>
          <p:nvPr/>
        </p:nvSpPr>
        <p:spPr>
          <a:xfrm>
            <a:off x="7542014" y="2956798"/>
            <a:ext cx="335089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Genetic Algorithm (GA)</a:t>
            </a:r>
            <a:endParaRPr lang="en-US" sz="2200" dirty="0"/>
          </a:p>
        </p:txBody>
      </p:sp>
      <p:sp>
        <p:nvSpPr>
          <p:cNvPr id="8" name="Text 4"/>
          <p:cNvSpPr/>
          <p:nvPr/>
        </p:nvSpPr>
        <p:spPr>
          <a:xfrm>
            <a:off x="7542014" y="3447217"/>
            <a:ext cx="6067782" cy="362903"/>
          </a:xfrm>
          <a:prstGeom prst="rect">
            <a:avLst/>
          </a:prstGeom>
          <a:noFill/>
          <a:ln/>
        </p:spPr>
        <p:txBody>
          <a:bodyPr wrap="non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GA mô phỏng quá trình tiến hóa sinh học:</a:t>
            </a:r>
            <a:endParaRPr lang="en-US" sz="1750" dirty="0"/>
          </a:p>
        </p:txBody>
      </p:sp>
      <p:sp>
        <p:nvSpPr>
          <p:cNvPr id="9" name="Text 5"/>
          <p:cNvSpPr/>
          <p:nvPr/>
        </p:nvSpPr>
        <p:spPr>
          <a:xfrm>
            <a:off x="7542014" y="3946207"/>
            <a:ext cx="6067782"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Khởi tạo quần thể các lời giải ngẫu nhiên.</a:t>
            </a:r>
            <a:endParaRPr lang="en-US" sz="1750" dirty="0"/>
          </a:p>
        </p:txBody>
      </p:sp>
      <p:sp>
        <p:nvSpPr>
          <p:cNvPr id="10" name="Text 6"/>
          <p:cNvSpPr/>
          <p:nvPr/>
        </p:nvSpPr>
        <p:spPr>
          <a:xfrm>
            <a:off x="7542014" y="4388406"/>
            <a:ext cx="6067782"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Selection</a:t>
            </a:r>
            <a:r>
              <a:rPr lang="en-US" sz="1750" dirty="0">
                <a:solidFill>
                  <a:srgbClr val="3D3E44"/>
                </a:solidFill>
                <a:latin typeface="Inter Light" pitchFamily="34" charset="0"/>
                <a:ea typeface="Inter Light" pitchFamily="34" charset="-122"/>
                <a:cs typeface="Inter Light" pitchFamily="34" charset="-120"/>
              </a:rPr>
              <a:t>: chọn lời giải tốt hơn.</a:t>
            </a:r>
            <a:endParaRPr lang="en-US" sz="1750" dirty="0"/>
          </a:p>
        </p:txBody>
      </p:sp>
      <p:sp>
        <p:nvSpPr>
          <p:cNvPr id="11" name="Text 7"/>
          <p:cNvSpPr/>
          <p:nvPr/>
        </p:nvSpPr>
        <p:spPr>
          <a:xfrm>
            <a:off x="7542014" y="4830604"/>
            <a:ext cx="6067782"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Crossover</a:t>
            </a:r>
            <a:r>
              <a:rPr lang="en-US" sz="1750" dirty="0">
                <a:solidFill>
                  <a:srgbClr val="3D3E44"/>
                </a:solidFill>
                <a:latin typeface="Inter Light" pitchFamily="34" charset="0"/>
                <a:ea typeface="Inter Light" pitchFamily="34" charset="-122"/>
                <a:cs typeface="Inter Light" pitchFamily="34" charset="-120"/>
              </a:rPr>
              <a:t>: lai ghép giữa hai lời giải để tạo lời giải mới.</a:t>
            </a:r>
            <a:endParaRPr lang="en-US" sz="1750" dirty="0"/>
          </a:p>
        </p:txBody>
      </p:sp>
      <p:sp>
        <p:nvSpPr>
          <p:cNvPr id="12" name="Text 8"/>
          <p:cNvSpPr/>
          <p:nvPr/>
        </p:nvSpPr>
        <p:spPr>
          <a:xfrm>
            <a:off x="7542014" y="5272802"/>
            <a:ext cx="6067782"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Mutation</a:t>
            </a:r>
            <a:r>
              <a:rPr lang="en-US" sz="1750" dirty="0">
                <a:solidFill>
                  <a:srgbClr val="3D3E44"/>
                </a:solidFill>
                <a:latin typeface="Inter Light" pitchFamily="34" charset="0"/>
                <a:ea typeface="Inter Light" pitchFamily="34" charset="-122"/>
                <a:cs typeface="Inter Light" pitchFamily="34" charset="-120"/>
              </a:rPr>
              <a:t>: đột biến để duy trì đa dạng.Qua nhiều thế hệ, quần thể tiến hóa dần tới lời giải tốt hơn.</a:t>
            </a:r>
            <a:endParaRPr lang="en-US" sz="1750" dirty="0"/>
          </a:p>
        </p:txBody>
      </p:sp>
      <p:sp>
        <p:nvSpPr>
          <p:cNvPr id="13" name="Text 9"/>
          <p:cNvSpPr/>
          <p:nvPr/>
        </p:nvSpPr>
        <p:spPr>
          <a:xfrm>
            <a:off x="793790" y="684347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Simulated Annealing (SA) và Genetic Algorithm (GA) là các metaheuristic mạnh mẽ hơn, cho phép khám phá không gian lời giải rộng hơn.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640794" y="503515"/>
            <a:ext cx="10859810" cy="572214"/>
          </a:xfrm>
          <a:prstGeom prst="rect">
            <a:avLst/>
          </a:prstGeom>
          <a:noFill/>
          <a:ln/>
        </p:spPr>
        <p:txBody>
          <a:bodyPr wrap="none" lIns="0" tIns="0" rIns="0" bIns="0" rtlCol="0" anchor="t"/>
          <a:lstStyle/>
          <a:p>
            <a:pPr marL="0" indent="0" algn="l">
              <a:lnSpc>
                <a:spcPts val="4500"/>
              </a:lnSpc>
              <a:buNone/>
            </a:pPr>
            <a:r>
              <a:rPr lang="en-US" sz="3600" dirty="0">
                <a:solidFill>
                  <a:srgbClr val="74767D"/>
                </a:solidFill>
                <a:latin typeface="Montserrat Medium" pitchFamily="34" charset="0"/>
                <a:ea typeface="Montserrat Medium" pitchFamily="34" charset="-122"/>
                <a:cs typeface="Montserrat Medium" pitchFamily="34" charset="-120"/>
              </a:rPr>
              <a:t>Kết Quả Thực Nghiệm TSP (10 &amp; 20 Thành Phố)</a:t>
            </a:r>
            <a:endParaRPr lang="en-US" sz="3600" dirty="0"/>
          </a:p>
        </p:txBody>
      </p:sp>
      <p:sp>
        <p:nvSpPr>
          <p:cNvPr id="3" name="Text 1"/>
          <p:cNvSpPr/>
          <p:nvPr/>
        </p:nvSpPr>
        <p:spPr>
          <a:xfrm>
            <a:off x="640794" y="1441847"/>
            <a:ext cx="13348811"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Thực nghiệm trên dữ liệu ngẫu nhiên với 10, 20, và 50 thành phố. So sánh chất lượng nghiệm (Best Distance) và thời gian chạy (Runtime).</a:t>
            </a:r>
            <a:endParaRPr lang="en-US" sz="1400" dirty="0"/>
          </a:p>
        </p:txBody>
      </p:sp>
      <p:sp>
        <p:nvSpPr>
          <p:cNvPr id="4" name="Shape 2"/>
          <p:cNvSpPr/>
          <p:nvPr/>
        </p:nvSpPr>
        <p:spPr>
          <a:xfrm>
            <a:off x="640794" y="1940719"/>
            <a:ext cx="13348811" cy="5292090"/>
          </a:xfrm>
          <a:prstGeom prst="roundRect">
            <a:avLst>
              <a:gd name="adj" fmla="val 3114"/>
            </a:avLst>
          </a:prstGeom>
          <a:noFill/>
          <a:ln w="7620">
            <a:solidFill>
              <a:srgbClr val="000000">
                <a:alpha val="8000"/>
              </a:srgbClr>
            </a:solidFill>
            <a:prstDash val="solid"/>
          </a:ln>
        </p:spPr>
        <p:txBody>
          <a:bodyPr/>
          <a:lstStyle/>
          <a:p>
            <a:endParaRPr lang="en-US"/>
          </a:p>
        </p:txBody>
      </p:sp>
      <p:sp>
        <p:nvSpPr>
          <p:cNvPr id="5" name="Shape 3"/>
          <p:cNvSpPr/>
          <p:nvPr/>
        </p:nvSpPr>
        <p:spPr>
          <a:xfrm>
            <a:off x="648414" y="1948339"/>
            <a:ext cx="13333571" cy="527685"/>
          </a:xfrm>
          <a:prstGeom prst="rect">
            <a:avLst/>
          </a:prstGeom>
          <a:solidFill>
            <a:srgbClr val="FFFFFF">
              <a:alpha val="4000"/>
            </a:srgbClr>
          </a:solidFill>
          <a:ln/>
        </p:spPr>
        <p:txBody>
          <a:bodyPr/>
          <a:lstStyle/>
          <a:p>
            <a:endParaRPr lang="en-US"/>
          </a:p>
        </p:txBody>
      </p:sp>
      <p:sp>
        <p:nvSpPr>
          <p:cNvPr id="6" name="Text 4"/>
          <p:cNvSpPr/>
          <p:nvPr/>
        </p:nvSpPr>
        <p:spPr>
          <a:xfrm>
            <a:off x="831533" y="2065734"/>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Steepest-Ascent</a:t>
            </a:r>
            <a:endParaRPr lang="en-US" sz="1400" dirty="0"/>
          </a:p>
        </p:txBody>
      </p:sp>
      <p:sp>
        <p:nvSpPr>
          <p:cNvPr id="7" name="Text 5"/>
          <p:cNvSpPr/>
          <p:nvPr/>
        </p:nvSpPr>
        <p:spPr>
          <a:xfrm>
            <a:off x="4168735" y="2065734"/>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10</a:t>
            </a:r>
            <a:endParaRPr lang="en-US" sz="1400" dirty="0"/>
          </a:p>
        </p:txBody>
      </p:sp>
      <p:sp>
        <p:nvSpPr>
          <p:cNvPr id="8" name="Text 6"/>
          <p:cNvSpPr/>
          <p:nvPr/>
        </p:nvSpPr>
        <p:spPr>
          <a:xfrm>
            <a:off x="6168747" y="2065734"/>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2.64</a:t>
            </a:r>
            <a:endParaRPr lang="en-US" sz="1400" dirty="0"/>
          </a:p>
        </p:txBody>
      </p:sp>
      <p:sp>
        <p:nvSpPr>
          <p:cNvPr id="9" name="Text 7"/>
          <p:cNvSpPr/>
          <p:nvPr/>
        </p:nvSpPr>
        <p:spPr>
          <a:xfrm>
            <a:off x="10168771" y="2065734"/>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17.85</a:t>
            </a:r>
            <a:endParaRPr lang="en-US" sz="1400" dirty="0"/>
          </a:p>
        </p:txBody>
      </p:sp>
      <p:sp>
        <p:nvSpPr>
          <p:cNvPr id="10" name="Shape 8"/>
          <p:cNvSpPr/>
          <p:nvPr/>
        </p:nvSpPr>
        <p:spPr>
          <a:xfrm>
            <a:off x="648414" y="2476024"/>
            <a:ext cx="13333571" cy="527685"/>
          </a:xfrm>
          <a:prstGeom prst="rect">
            <a:avLst/>
          </a:prstGeom>
          <a:solidFill>
            <a:srgbClr val="000000">
              <a:alpha val="4000"/>
            </a:srgbClr>
          </a:solidFill>
          <a:ln/>
        </p:spPr>
        <p:txBody>
          <a:bodyPr/>
          <a:lstStyle/>
          <a:p>
            <a:endParaRPr lang="en-US"/>
          </a:p>
        </p:txBody>
      </p:sp>
      <p:sp>
        <p:nvSpPr>
          <p:cNvPr id="11" name="Text 9"/>
          <p:cNvSpPr/>
          <p:nvPr/>
        </p:nvSpPr>
        <p:spPr>
          <a:xfrm>
            <a:off x="831533" y="2593419"/>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Genetic Algorithm</a:t>
            </a:r>
            <a:endParaRPr lang="en-US" sz="1400" dirty="0"/>
          </a:p>
        </p:txBody>
      </p:sp>
      <p:sp>
        <p:nvSpPr>
          <p:cNvPr id="12" name="Text 10"/>
          <p:cNvSpPr/>
          <p:nvPr/>
        </p:nvSpPr>
        <p:spPr>
          <a:xfrm>
            <a:off x="4168735" y="2593419"/>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10</a:t>
            </a:r>
            <a:endParaRPr lang="en-US" sz="1400" dirty="0"/>
          </a:p>
        </p:txBody>
      </p:sp>
      <p:sp>
        <p:nvSpPr>
          <p:cNvPr id="13" name="Text 11"/>
          <p:cNvSpPr/>
          <p:nvPr/>
        </p:nvSpPr>
        <p:spPr>
          <a:xfrm>
            <a:off x="6168747" y="2593419"/>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2.64</a:t>
            </a:r>
            <a:endParaRPr lang="en-US" sz="1400" dirty="0"/>
          </a:p>
        </p:txBody>
      </p:sp>
      <p:sp>
        <p:nvSpPr>
          <p:cNvPr id="14" name="Text 12"/>
          <p:cNvSpPr/>
          <p:nvPr/>
        </p:nvSpPr>
        <p:spPr>
          <a:xfrm>
            <a:off x="10168771" y="2593419"/>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428.88</a:t>
            </a:r>
            <a:endParaRPr lang="en-US" sz="1400" dirty="0"/>
          </a:p>
        </p:txBody>
      </p:sp>
      <p:sp>
        <p:nvSpPr>
          <p:cNvPr id="15" name="Shape 13"/>
          <p:cNvSpPr/>
          <p:nvPr/>
        </p:nvSpPr>
        <p:spPr>
          <a:xfrm>
            <a:off x="648414" y="3003709"/>
            <a:ext cx="13333571" cy="527685"/>
          </a:xfrm>
          <a:prstGeom prst="rect">
            <a:avLst/>
          </a:prstGeom>
          <a:solidFill>
            <a:srgbClr val="FFFFFF">
              <a:alpha val="4000"/>
            </a:srgbClr>
          </a:solidFill>
          <a:ln/>
        </p:spPr>
        <p:txBody>
          <a:bodyPr/>
          <a:lstStyle/>
          <a:p>
            <a:endParaRPr lang="en-US"/>
          </a:p>
        </p:txBody>
      </p:sp>
      <p:sp>
        <p:nvSpPr>
          <p:cNvPr id="16" name="Text 14"/>
          <p:cNvSpPr/>
          <p:nvPr/>
        </p:nvSpPr>
        <p:spPr>
          <a:xfrm>
            <a:off x="831533" y="3121104"/>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Steepest-Ascent</a:t>
            </a:r>
            <a:endParaRPr lang="en-US" sz="1400" dirty="0"/>
          </a:p>
        </p:txBody>
      </p:sp>
      <p:sp>
        <p:nvSpPr>
          <p:cNvPr id="17" name="Text 15"/>
          <p:cNvSpPr/>
          <p:nvPr/>
        </p:nvSpPr>
        <p:spPr>
          <a:xfrm>
            <a:off x="4168735" y="3121104"/>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20</a:t>
            </a:r>
            <a:endParaRPr lang="en-US" sz="1400" dirty="0"/>
          </a:p>
        </p:txBody>
      </p:sp>
      <p:sp>
        <p:nvSpPr>
          <p:cNvPr id="18" name="Text 16"/>
          <p:cNvSpPr/>
          <p:nvPr/>
        </p:nvSpPr>
        <p:spPr>
          <a:xfrm>
            <a:off x="6168747" y="3121104"/>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3.63</a:t>
            </a:r>
            <a:endParaRPr lang="en-US" sz="1400" dirty="0"/>
          </a:p>
        </p:txBody>
      </p:sp>
      <p:sp>
        <p:nvSpPr>
          <p:cNvPr id="19" name="Text 17"/>
          <p:cNvSpPr/>
          <p:nvPr/>
        </p:nvSpPr>
        <p:spPr>
          <a:xfrm>
            <a:off x="10168771" y="3121104"/>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54.82</a:t>
            </a:r>
            <a:endParaRPr lang="en-US" sz="1400" dirty="0"/>
          </a:p>
        </p:txBody>
      </p:sp>
      <p:sp>
        <p:nvSpPr>
          <p:cNvPr id="20" name="Shape 18"/>
          <p:cNvSpPr/>
          <p:nvPr/>
        </p:nvSpPr>
        <p:spPr>
          <a:xfrm>
            <a:off x="648414" y="3531394"/>
            <a:ext cx="13333571" cy="527685"/>
          </a:xfrm>
          <a:prstGeom prst="rect">
            <a:avLst/>
          </a:prstGeom>
          <a:solidFill>
            <a:srgbClr val="000000">
              <a:alpha val="4000"/>
            </a:srgbClr>
          </a:solidFill>
          <a:ln/>
        </p:spPr>
        <p:txBody>
          <a:bodyPr/>
          <a:lstStyle/>
          <a:p>
            <a:endParaRPr lang="en-US"/>
          </a:p>
        </p:txBody>
      </p:sp>
      <p:sp>
        <p:nvSpPr>
          <p:cNvPr id="21" name="Text 19"/>
          <p:cNvSpPr/>
          <p:nvPr/>
        </p:nvSpPr>
        <p:spPr>
          <a:xfrm>
            <a:off x="831533" y="3648789"/>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Genetic Algorithm</a:t>
            </a:r>
            <a:endParaRPr lang="en-US" sz="1400" dirty="0"/>
          </a:p>
        </p:txBody>
      </p:sp>
      <p:sp>
        <p:nvSpPr>
          <p:cNvPr id="22" name="Text 20"/>
          <p:cNvSpPr/>
          <p:nvPr/>
        </p:nvSpPr>
        <p:spPr>
          <a:xfrm>
            <a:off x="4168735" y="3648789"/>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20</a:t>
            </a:r>
            <a:endParaRPr lang="en-US" sz="1400" dirty="0"/>
          </a:p>
        </p:txBody>
      </p:sp>
      <p:sp>
        <p:nvSpPr>
          <p:cNvPr id="23" name="Text 21"/>
          <p:cNvSpPr/>
          <p:nvPr/>
        </p:nvSpPr>
        <p:spPr>
          <a:xfrm>
            <a:off x="6168747" y="3648789"/>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3.96</a:t>
            </a:r>
            <a:endParaRPr lang="en-US" sz="1400" dirty="0"/>
          </a:p>
        </p:txBody>
      </p:sp>
      <p:sp>
        <p:nvSpPr>
          <p:cNvPr id="24" name="Text 22"/>
          <p:cNvSpPr/>
          <p:nvPr/>
        </p:nvSpPr>
        <p:spPr>
          <a:xfrm>
            <a:off x="10168771" y="3648789"/>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693.83</a:t>
            </a:r>
            <a:endParaRPr lang="en-US" sz="1400" dirty="0"/>
          </a:p>
        </p:txBody>
      </p:sp>
      <p:sp>
        <p:nvSpPr>
          <p:cNvPr id="25" name="Shape 23"/>
          <p:cNvSpPr/>
          <p:nvPr/>
        </p:nvSpPr>
        <p:spPr>
          <a:xfrm>
            <a:off x="648414" y="4059079"/>
            <a:ext cx="13333571" cy="527685"/>
          </a:xfrm>
          <a:prstGeom prst="rect">
            <a:avLst/>
          </a:prstGeom>
          <a:solidFill>
            <a:srgbClr val="FFFFFF">
              <a:alpha val="4000"/>
            </a:srgbClr>
          </a:solidFill>
          <a:ln/>
        </p:spPr>
        <p:txBody>
          <a:bodyPr/>
          <a:lstStyle/>
          <a:p>
            <a:endParaRPr lang="en-US"/>
          </a:p>
        </p:txBody>
      </p:sp>
      <p:sp>
        <p:nvSpPr>
          <p:cNvPr id="26" name="Text 24"/>
          <p:cNvSpPr/>
          <p:nvPr/>
        </p:nvSpPr>
        <p:spPr>
          <a:xfrm>
            <a:off x="831533" y="4176474"/>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First-choice HC</a:t>
            </a:r>
            <a:endParaRPr lang="en-US" sz="1400" dirty="0"/>
          </a:p>
        </p:txBody>
      </p:sp>
      <p:sp>
        <p:nvSpPr>
          <p:cNvPr id="27" name="Text 25"/>
          <p:cNvSpPr/>
          <p:nvPr/>
        </p:nvSpPr>
        <p:spPr>
          <a:xfrm>
            <a:off x="4168735" y="4176474"/>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20</a:t>
            </a:r>
            <a:endParaRPr lang="en-US" sz="1400" dirty="0"/>
          </a:p>
        </p:txBody>
      </p:sp>
      <p:sp>
        <p:nvSpPr>
          <p:cNvPr id="28" name="Text 26"/>
          <p:cNvSpPr/>
          <p:nvPr/>
        </p:nvSpPr>
        <p:spPr>
          <a:xfrm>
            <a:off x="6168747" y="4176474"/>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4.24</a:t>
            </a:r>
            <a:endParaRPr lang="en-US" sz="1400" dirty="0"/>
          </a:p>
        </p:txBody>
      </p:sp>
      <p:sp>
        <p:nvSpPr>
          <p:cNvPr id="29" name="Text 27"/>
          <p:cNvSpPr/>
          <p:nvPr/>
        </p:nvSpPr>
        <p:spPr>
          <a:xfrm>
            <a:off x="10168771" y="4176474"/>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13.52</a:t>
            </a:r>
            <a:endParaRPr lang="en-US" sz="1400" dirty="0"/>
          </a:p>
        </p:txBody>
      </p:sp>
      <p:sp>
        <p:nvSpPr>
          <p:cNvPr id="30" name="Shape 28"/>
          <p:cNvSpPr/>
          <p:nvPr/>
        </p:nvSpPr>
        <p:spPr>
          <a:xfrm>
            <a:off x="648414" y="4586764"/>
            <a:ext cx="13333571" cy="527685"/>
          </a:xfrm>
          <a:prstGeom prst="rect">
            <a:avLst/>
          </a:prstGeom>
          <a:solidFill>
            <a:srgbClr val="000000">
              <a:alpha val="4000"/>
            </a:srgbClr>
          </a:solidFill>
          <a:ln/>
        </p:spPr>
        <p:txBody>
          <a:bodyPr/>
          <a:lstStyle/>
          <a:p>
            <a:endParaRPr lang="en-US"/>
          </a:p>
        </p:txBody>
      </p:sp>
      <p:sp>
        <p:nvSpPr>
          <p:cNvPr id="31" name="Text 29"/>
          <p:cNvSpPr/>
          <p:nvPr/>
        </p:nvSpPr>
        <p:spPr>
          <a:xfrm>
            <a:off x="831533" y="4704159"/>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Steepest-Ascent</a:t>
            </a:r>
            <a:endParaRPr lang="en-US" sz="1400" dirty="0"/>
          </a:p>
        </p:txBody>
      </p:sp>
      <p:sp>
        <p:nvSpPr>
          <p:cNvPr id="32" name="Text 30"/>
          <p:cNvSpPr/>
          <p:nvPr/>
        </p:nvSpPr>
        <p:spPr>
          <a:xfrm>
            <a:off x="4168735" y="4704159"/>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50</a:t>
            </a:r>
            <a:endParaRPr lang="en-US" sz="1400" dirty="0"/>
          </a:p>
        </p:txBody>
      </p:sp>
      <p:sp>
        <p:nvSpPr>
          <p:cNvPr id="33" name="Text 31"/>
          <p:cNvSpPr/>
          <p:nvPr/>
        </p:nvSpPr>
        <p:spPr>
          <a:xfrm>
            <a:off x="6168747" y="4704159"/>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8.72</a:t>
            </a:r>
            <a:endParaRPr lang="en-US" sz="1400" dirty="0"/>
          </a:p>
        </p:txBody>
      </p:sp>
      <p:sp>
        <p:nvSpPr>
          <p:cNvPr id="34" name="Text 32"/>
          <p:cNvSpPr/>
          <p:nvPr/>
        </p:nvSpPr>
        <p:spPr>
          <a:xfrm>
            <a:off x="10168771" y="4704159"/>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319.09</a:t>
            </a:r>
            <a:endParaRPr lang="en-US" sz="1400" dirty="0"/>
          </a:p>
        </p:txBody>
      </p:sp>
      <p:sp>
        <p:nvSpPr>
          <p:cNvPr id="35" name="Shape 33"/>
          <p:cNvSpPr/>
          <p:nvPr/>
        </p:nvSpPr>
        <p:spPr>
          <a:xfrm>
            <a:off x="648414" y="5114449"/>
            <a:ext cx="13333571" cy="527685"/>
          </a:xfrm>
          <a:prstGeom prst="rect">
            <a:avLst/>
          </a:prstGeom>
          <a:solidFill>
            <a:srgbClr val="FFFFFF">
              <a:alpha val="4000"/>
            </a:srgbClr>
          </a:solidFill>
          <a:ln/>
        </p:spPr>
        <p:txBody>
          <a:bodyPr/>
          <a:lstStyle/>
          <a:p>
            <a:endParaRPr lang="en-US"/>
          </a:p>
        </p:txBody>
      </p:sp>
      <p:sp>
        <p:nvSpPr>
          <p:cNvPr id="36" name="Text 34"/>
          <p:cNvSpPr/>
          <p:nvPr/>
        </p:nvSpPr>
        <p:spPr>
          <a:xfrm>
            <a:off x="831533" y="5231844"/>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Stochastic HC</a:t>
            </a:r>
            <a:endParaRPr lang="en-US" sz="1400" dirty="0"/>
          </a:p>
        </p:txBody>
      </p:sp>
      <p:sp>
        <p:nvSpPr>
          <p:cNvPr id="37" name="Text 35"/>
          <p:cNvSpPr/>
          <p:nvPr/>
        </p:nvSpPr>
        <p:spPr>
          <a:xfrm>
            <a:off x="4168735" y="5231844"/>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50</a:t>
            </a:r>
            <a:endParaRPr lang="en-US" sz="1400" dirty="0"/>
          </a:p>
        </p:txBody>
      </p:sp>
      <p:sp>
        <p:nvSpPr>
          <p:cNvPr id="38" name="Text 36"/>
          <p:cNvSpPr/>
          <p:nvPr/>
        </p:nvSpPr>
        <p:spPr>
          <a:xfrm>
            <a:off x="6168747" y="5231844"/>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12.28</a:t>
            </a:r>
            <a:endParaRPr lang="en-US" sz="1400" dirty="0"/>
          </a:p>
        </p:txBody>
      </p:sp>
      <p:sp>
        <p:nvSpPr>
          <p:cNvPr id="39" name="Text 37"/>
          <p:cNvSpPr/>
          <p:nvPr/>
        </p:nvSpPr>
        <p:spPr>
          <a:xfrm>
            <a:off x="10168771" y="5231844"/>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13.80</a:t>
            </a:r>
            <a:endParaRPr lang="en-US" sz="1400" dirty="0"/>
          </a:p>
        </p:txBody>
      </p:sp>
      <p:sp>
        <p:nvSpPr>
          <p:cNvPr id="40" name="Shape 38"/>
          <p:cNvSpPr/>
          <p:nvPr/>
        </p:nvSpPr>
        <p:spPr>
          <a:xfrm>
            <a:off x="648414" y="5642134"/>
            <a:ext cx="13333571" cy="527685"/>
          </a:xfrm>
          <a:prstGeom prst="rect">
            <a:avLst/>
          </a:prstGeom>
          <a:solidFill>
            <a:srgbClr val="000000">
              <a:alpha val="4000"/>
            </a:srgbClr>
          </a:solidFill>
          <a:ln/>
        </p:spPr>
        <p:txBody>
          <a:bodyPr/>
          <a:lstStyle/>
          <a:p>
            <a:endParaRPr lang="en-US"/>
          </a:p>
        </p:txBody>
      </p:sp>
      <p:sp>
        <p:nvSpPr>
          <p:cNvPr id="41" name="Text 39"/>
          <p:cNvSpPr/>
          <p:nvPr/>
        </p:nvSpPr>
        <p:spPr>
          <a:xfrm>
            <a:off x="831533" y="5759529"/>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First-choice HC</a:t>
            </a:r>
            <a:endParaRPr lang="en-US" sz="1400" dirty="0"/>
          </a:p>
        </p:txBody>
      </p:sp>
      <p:sp>
        <p:nvSpPr>
          <p:cNvPr id="42" name="Text 40"/>
          <p:cNvSpPr/>
          <p:nvPr/>
        </p:nvSpPr>
        <p:spPr>
          <a:xfrm>
            <a:off x="4168735" y="5759529"/>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50</a:t>
            </a:r>
            <a:endParaRPr lang="en-US" sz="1400" dirty="0"/>
          </a:p>
        </p:txBody>
      </p:sp>
      <p:sp>
        <p:nvSpPr>
          <p:cNvPr id="43" name="Text 41"/>
          <p:cNvSpPr/>
          <p:nvPr/>
        </p:nvSpPr>
        <p:spPr>
          <a:xfrm>
            <a:off x="6168747" y="5759529"/>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10.11</a:t>
            </a:r>
            <a:endParaRPr lang="en-US" sz="1400" dirty="0"/>
          </a:p>
        </p:txBody>
      </p:sp>
      <p:sp>
        <p:nvSpPr>
          <p:cNvPr id="44" name="Text 42"/>
          <p:cNvSpPr/>
          <p:nvPr/>
        </p:nvSpPr>
        <p:spPr>
          <a:xfrm>
            <a:off x="10168771" y="5759529"/>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15.69</a:t>
            </a:r>
            <a:endParaRPr lang="en-US" sz="1400" dirty="0"/>
          </a:p>
        </p:txBody>
      </p:sp>
      <p:sp>
        <p:nvSpPr>
          <p:cNvPr id="45" name="Shape 43"/>
          <p:cNvSpPr/>
          <p:nvPr/>
        </p:nvSpPr>
        <p:spPr>
          <a:xfrm>
            <a:off x="648414" y="6169819"/>
            <a:ext cx="13333571" cy="527685"/>
          </a:xfrm>
          <a:prstGeom prst="rect">
            <a:avLst/>
          </a:prstGeom>
          <a:solidFill>
            <a:srgbClr val="FFFFFF">
              <a:alpha val="4000"/>
            </a:srgbClr>
          </a:solidFill>
          <a:ln/>
        </p:spPr>
        <p:txBody>
          <a:bodyPr/>
          <a:lstStyle/>
          <a:p>
            <a:endParaRPr lang="en-US"/>
          </a:p>
        </p:txBody>
      </p:sp>
      <p:sp>
        <p:nvSpPr>
          <p:cNvPr id="46" name="Text 44"/>
          <p:cNvSpPr/>
          <p:nvPr/>
        </p:nvSpPr>
        <p:spPr>
          <a:xfrm>
            <a:off x="831533" y="6287214"/>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Simulated Annealing</a:t>
            </a:r>
            <a:endParaRPr lang="en-US" sz="1400" dirty="0"/>
          </a:p>
        </p:txBody>
      </p:sp>
      <p:sp>
        <p:nvSpPr>
          <p:cNvPr id="47" name="Text 45"/>
          <p:cNvSpPr/>
          <p:nvPr/>
        </p:nvSpPr>
        <p:spPr>
          <a:xfrm>
            <a:off x="4168735" y="6287214"/>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50</a:t>
            </a:r>
            <a:endParaRPr lang="en-US" sz="1400" dirty="0"/>
          </a:p>
        </p:txBody>
      </p:sp>
      <p:sp>
        <p:nvSpPr>
          <p:cNvPr id="48" name="Text 46"/>
          <p:cNvSpPr/>
          <p:nvPr/>
        </p:nvSpPr>
        <p:spPr>
          <a:xfrm>
            <a:off x="6168747" y="6287214"/>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21.27</a:t>
            </a:r>
            <a:endParaRPr lang="en-US" sz="1400" dirty="0"/>
          </a:p>
        </p:txBody>
      </p:sp>
      <p:sp>
        <p:nvSpPr>
          <p:cNvPr id="49" name="Text 47"/>
          <p:cNvSpPr/>
          <p:nvPr/>
        </p:nvSpPr>
        <p:spPr>
          <a:xfrm>
            <a:off x="10168771" y="6287214"/>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19.01</a:t>
            </a:r>
            <a:endParaRPr lang="en-US" sz="1400" dirty="0"/>
          </a:p>
        </p:txBody>
      </p:sp>
      <p:sp>
        <p:nvSpPr>
          <p:cNvPr id="50" name="Shape 48"/>
          <p:cNvSpPr/>
          <p:nvPr/>
        </p:nvSpPr>
        <p:spPr>
          <a:xfrm>
            <a:off x="648414" y="6697504"/>
            <a:ext cx="13333571" cy="527685"/>
          </a:xfrm>
          <a:prstGeom prst="rect">
            <a:avLst/>
          </a:prstGeom>
          <a:solidFill>
            <a:srgbClr val="000000">
              <a:alpha val="4000"/>
            </a:srgbClr>
          </a:solidFill>
          <a:ln/>
        </p:spPr>
        <p:txBody>
          <a:bodyPr/>
          <a:lstStyle/>
          <a:p>
            <a:endParaRPr lang="en-US"/>
          </a:p>
        </p:txBody>
      </p:sp>
      <p:sp>
        <p:nvSpPr>
          <p:cNvPr id="51" name="Text 49"/>
          <p:cNvSpPr/>
          <p:nvPr/>
        </p:nvSpPr>
        <p:spPr>
          <a:xfrm>
            <a:off x="831533" y="6814899"/>
            <a:ext cx="2963585"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Genetic Algorithm</a:t>
            </a:r>
            <a:endParaRPr lang="en-US" sz="1400" dirty="0"/>
          </a:p>
        </p:txBody>
      </p:sp>
      <p:sp>
        <p:nvSpPr>
          <p:cNvPr id="52" name="Text 50"/>
          <p:cNvSpPr/>
          <p:nvPr/>
        </p:nvSpPr>
        <p:spPr>
          <a:xfrm>
            <a:off x="4168735" y="6814899"/>
            <a:ext cx="1626394"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50</a:t>
            </a:r>
            <a:endParaRPr lang="en-US" sz="1400" dirty="0"/>
          </a:p>
        </p:txBody>
      </p:sp>
      <p:sp>
        <p:nvSpPr>
          <p:cNvPr id="53" name="Text 51"/>
          <p:cNvSpPr/>
          <p:nvPr/>
        </p:nvSpPr>
        <p:spPr>
          <a:xfrm>
            <a:off x="6168747" y="6814899"/>
            <a:ext cx="362640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12.06</a:t>
            </a:r>
            <a:endParaRPr lang="en-US" sz="1400" dirty="0"/>
          </a:p>
        </p:txBody>
      </p:sp>
      <p:sp>
        <p:nvSpPr>
          <p:cNvPr id="54" name="Text 52"/>
          <p:cNvSpPr/>
          <p:nvPr/>
        </p:nvSpPr>
        <p:spPr>
          <a:xfrm>
            <a:off x="10168771" y="6814899"/>
            <a:ext cx="3630216"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1688.83</a:t>
            </a:r>
            <a:endParaRPr lang="en-US" sz="1400" dirty="0"/>
          </a:p>
        </p:txBody>
      </p:sp>
      <p:sp>
        <p:nvSpPr>
          <p:cNvPr id="55" name="Text 53"/>
          <p:cNvSpPr/>
          <p:nvPr/>
        </p:nvSpPr>
        <p:spPr>
          <a:xfrm>
            <a:off x="640794" y="7438787"/>
            <a:ext cx="13348811" cy="292894"/>
          </a:xfrm>
          <a:prstGeom prst="rect">
            <a:avLst/>
          </a:prstGeom>
          <a:noFill/>
          <a:ln/>
        </p:spPr>
        <p:txBody>
          <a:bodyPr wrap="none" lIns="0" tIns="0" rIns="0" bIns="0" rtlCol="0" anchor="t"/>
          <a:lstStyle/>
          <a:p>
            <a:pPr marL="0" indent="0" algn="l">
              <a:lnSpc>
                <a:spcPts val="2300"/>
              </a:lnSpc>
              <a:buNone/>
            </a:pPr>
            <a:r>
              <a:rPr lang="en-US" sz="1400" dirty="0">
                <a:solidFill>
                  <a:srgbClr val="3D3E44"/>
                </a:solidFill>
                <a:latin typeface="Inter Light" pitchFamily="34" charset="0"/>
                <a:ea typeface="Inter Light" pitchFamily="34" charset="-122"/>
                <a:cs typeface="Inter Light" pitchFamily="34" charset="-120"/>
              </a:rPr>
              <a:t>Với bài toán nhỏ (10-20 cities), Steepest-Ascent và GA tìm được nghiệm tối ưu tốt nhất.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761405" y="937379"/>
            <a:ext cx="12630983" cy="679847"/>
          </a:xfrm>
          <a:prstGeom prst="rect">
            <a:avLst/>
          </a:prstGeom>
          <a:noFill/>
          <a:ln/>
        </p:spPr>
        <p:txBody>
          <a:bodyPr wrap="none" lIns="0" tIns="0" rIns="0" bIns="0" rtlCol="0" anchor="t"/>
          <a:lstStyle/>
          <a:p>
            <a:pPr marL="0" indent="0" algn="l">
              <a:lnSpc>
                <a:spcPts val="5350"/>
              </a:lnSpc>
              <a:buNone/>
            </a:pPr>
            <a:r>
              <a:rPr lang="en-US" sz="4250" dirty="0">
                <a:solidFill>
                  <a:srgbClr val="74767D"/>
                </a:solidFill>
                <a:latin typeface="Montserrat Medium" pitchFamily="34" charset="0"/>
                <a:ea typeface="Montserrat Medium" pitchFamily="34" charset="-122"/>
                <a:cs typeface="Montserrat Medium" pitchFamily="34" charset="-120"/>
              </a:rPr>
              <a:t>Phân Tích Khả Năng Mở Rộng (50 Thành Phố)</a:t>
            </a:r>
            <a:endParaRPr lang="en-US" sz="4250" dirty="0"/>
          </a:p>
        </p:txBody>
      </p:sp>
      <p:sp>
        <p:nvSpPr>
          <p:cNvPr id="3" name="Text 1"/>
          <p:cNvSpPr/>
          <p:nvPr/>
        </p:nvSpPr>
        <p:spPr>
          <a:xfrm>
            <a:off x="761405" y="2160984"/>
            <a:ext cx="4970026" cy="339923"/>
          </a:xfrm>
          <a:prstGeom prst="rect">
            <a:avLst/>
          </a:prstGeom>
          <a:noFill/>
          <a:ln/>
        </p:spPr>
        <p:txBody>
          <a:bodyPr wrap="none" lIns="0" tIns="0" rIns="0" bIns="0" rtlCol="0" anchor="t"/>
          <a:lstStyle/>
          <a:p>
            <a:pPr marL="0" indent="0" algn="l">
              <a:lnSpc>
                <a:spcPts val="2650"/>
              </a:lnSpc>
              <a:buNone/>
            </a:pPr>
            <a:r>
              <a:rPr lang="en-US" sz="2100" dirty="0">
                <a:solidFill>
                  <a:srgbClr val="74767D"/>
                </a:solidFill>
                <a:latin typeface="Montserrat Medium" pitchFamily="34" charset="0"/>
                <a:ea typeface="Montserrat Medium" pitchFamily="34" charset="-122"/>
                <a:cs typeface="Montserrat Medium" pitchFamily="34" charset="-120"/>
              </a:rPr>
              <a:t>Chất Lượng Nghiệm (Best Distance)</a:t>
            </a:r>
            <a:endParaRPr lang="en-US" sz="2100" dirty="0"/>
          </a:p>
        </p:txBody>
      </p:sp>
      <p:sp>
        <p:nvSpPr>
          <p:cNvPr id="4" name="Text 2"/>
          <p:cNvSpPr/>
          <p:nvPr/>
        </p:nvSpPr>
        <p:spPr>
          <a:xfrm>
            <a:off x="761405" y="2718435"/>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D3E44"/>
                </a:solidFill>
                <a:latin typeface="Inter Light" pitchFamily="34" charset="0"/>
                <a:ea typeface="Inter Light" pitchFamily="34" charset="-122"/>
                <a:cs typeface="Inter Light" pitchFamily="34" charset="-120"/>
              </a:rPr>
              <a:t>Steepest-Ascent: 8.72 (Tốt nhất)</a:t>
            </a:r>
            <a:endParaRPr lang="en-US" sz="1700" dirty="0"/>
          </a:p>
        </p:txBody>
      </p:sp>
      <p:sp>
        <p:nvSpPr>
          <p:cNvPr id="5" name="Text 3"/>
          <p:cNvSpPr/>
          <p:nvPr/>
        </p:nvSpPr>
        <p:spPr>
          <a:xfrm>
            <a:off x="761405" y="3142536"/>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D3E44"/>
                </a:solidFill>
                <a:latin typeface="Inter Light" pitchFamily="34" charset="0"/>
                <a:ea typeface="Inter Light" pitchFamily="34" charset="-122"/>
                <a:cs typeface="Inter Light" pitchFamily="34" charset="-120"/>
              </a:rPr>
              <a:t>Genetic Algorithm: 12.06</a:t>
            </a:r>
            <a:endParaRPr lang="en-US" sz="1700" dirty="0"/>
          </a:p>
        </p:txBody>
      </p:sp>
      <p:sp>
        <p:nvSpPr>
          <p:cNvPr id="6" name="Text 4"/>
          <p:cNvSpPr/>
          <p:nvPr/>
        </p:nvSpPr>
        <p:spPr>
          <a:xfrm>
            <a:off x="761405" y="3566636"/>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D3E44"/>
                </a:solidFill>
                <a:latin typeface="Inter Light" pitchFamily="34" charset="0"/>
                <a:ea typeface="Inter Light" pitchFamily="34" charset="-122"/>
                <a:cs typeface="Inter Light" pitchFamily="34" charset="-120"/>
              </a:rPr>
              <a:t>Stochastic HC: 12.28</a:t>
            </a:r>
            <a:endParaRPr lang="en-US" sz="1700" dirty="0"/>
          </a:p>
        </p:txBody>
      </p:sp>
      <p:sp>
        <p:nvSpPr>
          <p:cNvPr id="7" name="Text 5"/>
          <p:cNvSpPr/>
          <p:nvPr/>
        </p:nvSpPr>
        <p:spPr>
          <a:xfrm>
            <a:off x="761405" y="3990737"/>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D3E44"/>
                </a:solidFill>
                <a:latin typeface="Inter Light" pitchFamily="34" charset="0"/>
                <a:ea typeface="Inter Light" pitchFamily="34" charset="-122"/>
                <a:cs typeface="Inter Light" pitchFamily="34" charset="-120"/>
              </a:rPr>
              <a:t>Simulated Annealing: 21.27 (Kém nhất)</a:t>
            </a:r>
            <a:endParaRPr lang="en-US" sz="1700" dirty="0"/>
          </a:p>
        </p:txBody>
      </p:sp>
      <p:sp>
        <p:nvSpPr>
          <p:cNvPr id="8" name="Text 6"/>
          <p:cNvSpPr/>
          <p:nvPr/>
        </p:nvSpPr>
        <p:spPr>
          <a:xfrm>
            <a:off x="7588210" y="2160984"/>
            <a:ext cx="3526869" cy="339923"/>
          </a:xfrm>
          <a:prstGeom prst="rect">
            <a:avLst/>
          </a:prstGeom>
          <a:noFill/>
          <a:ln/>
        </p:spPr>
        <p:txBody>
          <a:bodyPr wrap="none" lIns="0" tIns="0" rIns="0" bIns="0" rtlCol="0" anchor="t"/>
          <a:lstStyle/>
          <a:p>
            <a:pPr marL="0" indent="0" algn="l">
              <a:lnSpc>
                <a:spcPts val="2650"/>
              </a:lnSpc>
              <a:buNone/>
            </a:pPr>
            <a:r>
              <a:rPr lang="en-US" sz="2100" dirty="0">
                <a:solidFill>
                  <a:srgbClr val="74767D"/>
                </a:solidFill>
                <a:latin typeface="Montserrat Medium" pitchFamily="34" charset="0"/>
                <a:ea typeface="Montserrat Medium" pitchFamily="34" charset="-122"/>
                <a:cs typeface="Montserrat Medium" pitchFamily="34" charset="-120"/>
              </a:rPr>
              <a:t>Thời Gian Chạy (Runtime)</a:t>
            </a:r>
            <a:endParaRPr lang="en-US" sz="2100" dirty="0"/>
          </a:p>
        </p:txBody>
      </p:sp>
      <p:sp>
        <p:nvSpPr>
          <p:cNvPr id="9" name="Text 7"/>
          <p:cNvSpPr/>
          <p:nvPr/>
        </p:nvSpPr>
        <p:spPr>
          <a:xfrm>
            <a:off x="7588210" y="2718435"/>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D3E44"/>
                </a:solidFill>
                <a:latin typeface="Inter Light" pitchFamily="34" charset="0"/>
                <a:ea typeface="Inter Light" pitchFamily="34" charset="-122"/>
                <a:cs typeface="Inter Light" pitchFamily="34" charset="-120"/>
              </a:rPr>
              <a:t>First-choice HC: 15.69 ms (Nhanh nhất)</a:t>
            </a:r>
            <a:endParaRPr lang="en-US" sz="1700" dirty="0"/>
          </a:p>
        </p:txBody>
      </p:sp>
      <p:sp>
        <p:nvSpPr>
          <p:cNvPr id="10" name="Text 8"/>
          <p:cNvSpPr/>
          <p:nvPr/>
        </p:nvSpPr>
        <p:spPr>
          <a:xfrm>
            <a:off x="7588210" y="3142536"/>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D3E44"/>
                </a:solidFill>
                <a:latin typeface="Inter Light" pitchFamily="34" charset="0"/>
                <a:ea typeface="Inter Light" pitchFamily="34" charset="-122"/>
                <a:cs typeface="Inter Light" pitchFamily="34" charset="-120"/>
              </a:rPr>
              <a:t>Stochastic HC: 13.80 ms</a:t>
            </a:r>
            <a:endParaRPr lang="en-US" sz="1700" dirty="0"/>
          </a:p>
        </p:txBody>
      </p:sp>
      <p:sp>
        <p:nvSpPr>
          <p:cNvPr id="11" name="Text 9"/>
          <p:cNvSpPr/>
          <p:nvPr/>
        </p:nvSpPr>
        <p:spPr>
          <a:xfrm>
            <a:off x="7588210" y="3566636"/>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D3E44"/>
                </a:solidFill>
                <a:latin typeface="Inter Light" pitchFamily="34" charset="0"/>
                <a:ea typeface="Inter Light" pitchFamily="34" charset="-122"/>
                <a:cs typeface="Inter Light" pitchFamily="34" charset="-120"/>
              </a:rPr>
              <a:t>Steepest-Ascent: 319.09 ms</a:t>
            </a:r>
            <a:endParaRPr lang="en-US" sz="1700" dirty="0"/>
          </a:p>
        </p:txBody>
      </p:sp>
      <p:sp>
        <p:nvSpPr>
          <p:cNvPr id="12" name="Text 10"/>
          <p:cNvSpPr/>
          <p:nvPr/>
        </p:nvSpPr>
        <p:spPr>
          <a:xfrm>
            <a:off x="7588210" y="3990737"/>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D3E44"/>
                </a:solidFill>
                <a:latin typeface="Inter Light" pitchFamily="34" charset="0"/>
                <a:ea typeface="Inter Light" pitchFamily="34" charset="-122"/>
                <a:cs typeface="Inter Light" pitchFamily="34" charset="-120"/>
              </a:rPr>
              <a:t>Genetic Algorithm: 1688.83 ms (Chậm nhất)</a:t>
            </a:r>
            <a:endParaRPr lang="en-US" sz="1700" dirty="0"/>
          </a:p>
        </p:txBody>
      </p:sp>
      <p:sp>
        <p:nvSpPr>
          <p:cNvPr id="13" name="Shape 11"/>
          <p:cNvSpPr/>
          <p:nvPr/>
        </p:nvSpPr>
        <p:spPr>
          <a:xfrm>
            <a:off x="761405" y="4985742"/>
            <a:ext cx="4224099" cy="2306360"/>
          </a:xfrm>
          <a:prstGeom prst="roundRect">
            <a:avLst>
              <a:gd name="adj" fmla="val 6344"/>
            </a:avLst>
          </a:prstGeom>
          <a:solidFill>
            <a:srgbClr val="FFFFFF"/>
          </a:solidFill>
          <a:ln/>
        </p:spPr>
        <p:txBody>
          <a:bodyPr/>
          <a:lstStyle/>
          <a:p>
            <a:endParaRPr lang="en-US"/>
          </a:p>
        </p:txBody>
      </p:sp>
      <p:pic>
        <p:nvPicPr>
          <p:cNvPr id="14" name="Image 0" descr="preencoded.png"/>
          <p:cNvPicPr>
            <a:picLocks noChangeAspect="1"/>
          </p:cNvPicPr>
          <p:nvPr/>
        </p:nvPicPr>
        <p:blipFill>
          <a:blip r:embed="rId3"/>
          <a:stretch>
            <a:fillRect/>
          </a:stretch>
        </p:blipFill>
        <p:spPr>
          <a:xfrm>
            <a:off x="761405" y="4955262"/>
            <a:ext cx="4224099" cy="121920"/>
          </a:xfrm>
          <a:prstGeom prst="rect">
            <a:avLst/>
          </a:prstGeom>
        </p:spPr>
      </p:pic>
      <p:pic>
        <p:nvPicPr>
          <p:cNvPr id="15" name="Image 1" descr="preencoded.png"/>
          <p:cNvPicPr>
            <a:picLocks noChangeAspect="1"/>
          </p:cNvPicPr>
          <p:nvPr/>
        </p:nvPicPr>
        <p:blipFill>
          <a:blip r:embed="rId4"/>
          <a:stretch>
            <a:fillRect/>
          </a:stretch>
        </p:blipFill>
        <p:spPr>
          <a:xfrm>
            <a:off x="2547164" y="4659511"/>
            <a:ext cx="652582" cy="652582"/>
          </a:xfrm>
          <a:prstGeom prst="rect">
            <a:avLst/>
          </a:prstGeom>
        </p:spPr>
      </p:pic>
      <p:pic>
        <p:nvPicPr>
          <p:cNvPr id="16" name="Image 2" descr="preencoded.png"/>
          <p:cNvPicPr>
            <a:picLocks noChangeAspect="1"/>
          </p:cNvPicPr>
          <p:nvPr/>
        </p:nvPicPr>
        <p:blipFill>
          <a:blip r:embed="rId5"/>
          <a:stretch>
            <a:fillRect/>
          </a:stretch>
        </p:blipFill>
        <p:spPr>
          <a:xfrm>
            <a:off x="2742902" y="4822627"/>
            <a:ext cx="260985" cy="326231"/>
          </a:xfrm>
          <a:prstGeom prst="rect">
            <a:avLst/>
          </a:prstGeom>
        </p:spPr>
      </p:pic>
      <p:sp>
        <p:nvSpPr>
          <p:cNvPr id="17" name="Text 12"/>
          <p:cNvSpPr/>
          <p:nvPr/>
        </p:nvSpPr>
        <p:spPr>
          <a:xfrm>
            <a:off x="1009412" y="5529620"/>
            <a:ext cx="3728085" cy="679847"/>
          </a:xfrm>
          <a:prstGeom prst="rect">
            <a:avLst/>
          </a:prstGeom>
          <a:noFill/>
          <a:ln/>
        </p:spPr>
        <p:txBody>
          <a:bodyPr wrap="square" lIns="0" tIns="0" rIns="0" bIns="0" rtlCol="0" anchor="t"/>
          <a:lstStyle/>
          <a:p>
            <a:pPr marL="0" indent="0" algn="l">
              <a:lnSpc>
                <a:spcPts val="2650"/>
              </a:lnSpc>
              <a:buNone/>
            </a:pPr>
            <a:r>
              <a:rPr lang="en-US" sz="2100" dirty="0">
                <a:solidFill>
                  <a:srgbClr val="3D3E44"/>
                </a:solidFill>
                <a:latin typeface="Montserrat Medium" pitchFamily="34" charset="0"/>
                <a:ea typeface="Montserrat Medium" pitchFamily="34" charset="-122"/>
                <a:cs typeface="Montserrat Medium" pitchFamily="34" charset="-120"/>
              </a:rPr>
              <a:t>HC (Stochastic &amp; First-choice)</a:t>
            </a:r>
            <a:endParaRPr lang="en-US" sz="2100" dirty="0"/>
          </a:p>
        </p:txBody>
      </p:sp>
      <p:sp>
        <p:nvSpPr>
          <p:cNvPr id="18" name="Text 13"/>
          <p:cNvSpPr/>
          <p:nvPr/>
        </p:nvSpPr>
        <p:spPr>
          <a:xfrm>
            <a:off x="1009412" y="6339959"/>
            <a:ext cx="3728085" cy="696039"/>
          </a:xfrm>
          <a:prstGeom prst="rect">
            <a:avLst/>
          </a:prstGeom>
          <a:noFill/>
          <a:ln/>
        </p:spPr>
        <p:txBody>
          <a:bodyPr wrap="squar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Chạy nhanh nhất (5-15 ms), thích hợp cho bài toán lớn.</a:t>
            </a:r>
            <a:endParaRPr lang="en-US" sz="1700" dirty="0"/>
          </a:p>
        </p:txBody>
      </p:sp>
      <p:sp>
        <p:nvSpPr>
          <p:cNvPr id="19" name="Shape 14"/>
          <p:cNvSpPr/>
          <p:nvPr/>
        </p:nvSpPr>
        <p:spPr>
          <a:xfrm>
            <a:off x="5203031" y="4985742"/>
            <a:ext cx="4224218" cy="2306360"/>
          </a:xfrm>
          <a:prstGeom prst="roundRect">
            <a:avLst>
              <a:gd name="adj" fmla="val 6344"/>
            </a:avLst>
          </a:prstGeom>
          <a:solidFill>
            <a:srgbClr val="FFFFFF"/>
          </a:solidFill>
          <a:ln/>
        </p:spPr>
        <p:txBody>
          <a:bodyPr/>
          <a:lstStyle/>
          <a:p>
            <a:endParaRPr lang="en-US"/>
          </a:p>
        </p:txBody>
      </p:sp>
      <p:pic>
        <p:nvPicPr>
          <p:cNvPr id="20" name="Image 3" descr="preencoded.png"/>
          <p:cNvPicPr>
            <a:picLocks noChangeAspect="1"/>
          </p:cNvPicPr>
          <p:nvPr/>
        </p:nvPicPr>
        <p:blipFill>
          <a:blip r:embed="rId3"/>
          <a:stretch>
            <a:fillRect/>
          </a:stretch>
        </p:blipFill>
        <p:spPr>
          <a:xfrm>
            <a:off x="5203031" y="4955262"/>
            <a:ext cx="4224218" cy="121920"/>
          </a:xfrm>
          <a:prstGeom prst="rect">
            <a:avLst/>
          </a:prstGeom>
        </p:spPr>
      </p:pic>
      <p:pic>
        <p:nvPicPr>
          <p:cNvPr id="21" name="Image 4" descr="preencoded.png"/>
          <p:cNvPicPr>
            <a:picLocks noChangeAspect="1"/>
          </p:cNvPicPr>
          <p:nvPr/>
        </p:nvPicPr>
        <p:blipFill>
          <a:blip r:embed="rId4"/>
          <a:stretch>
            <a:fillRect/>
          </a:stretch>
        </p:blipFill>
        <p:spPr>
          <a:xfrm>
            <a:off x="6988790" y="4659511"/>
            <a:ext cx="652582" cy="652582"/>
          </a:xfrm>
          <a:prstGeom prst="rect">
            <a:avLst/>
          </a:prstGeom>
        </p:spPr>
      </p:pic>
      <p:pic>
        <p:nvPicPr>
          <p:cNvPr id="22" name="Image 5" descr="preencoded.png"/>
          <p:cNvPicPr>
            <a:picLocks noChangeAspect="1"/>
          </p:cNvPicPr>
          <p:nvPr/>
        </p:nvPicPr>
        <p:blipFill>
          <a:blip r:embed="rId6"/>
          <a:stretch>
            <a:fillRect/>
          </a:stretch>
        </p:blipFill>
        <p:spPr>
          <a:xfrm>
            <a:off x="7184529" y="4822627"/>
            <a:ext cx="260985" cy="326231"/>
          </a:xfrm>
          <a:prstGeom prst="rect">
            <a:avLst/>
          </a:prstGeom>
        </p:spPr>
      </p:pic>
      <p:sp>
        <p:nvSpPr>
          <p:cNvPr id="23" name="Text 15"/>
          <p:cNvSpPr/>
          <p:nvPr/>
        </p:nvSpPr>
        <p:spPr>
          <a:xfrm>
            <a:off x="5451038" y="5529620"/>
            <a:ext cx="2719507" cy="339923"/>
          </a:xfrm>
          <a:prstGeom prst="rect">
            <a:avLst/>
          </a:prstGeom>
          <a:noFill/>
          <a:ln/>
        </p:spPr>
        <p:txBody>
          <a:bodyPr wrap="none" lIns="0" tIns="0" rIns="0" bIns="0" rtlCol="0" anchor="t"/>
          <a:lstStyle/>
          <a:p>
            <a:pPr marL="0" indent="0" algn="l">
              <a:lnSpc>
                <a:spcPts val="2650"/>
              </a:lnSpc>
              <a:buNone/>
            </a:pPr>
            <a:r>
              <a:rPr lang="en-US" sz="2100" dirty="0">
                <a:solidFill>
                  <a:srgbClr val="3D3E44"/>
                </a:solidFill>
                <a:latin typeface="Montserrat Medium" pitchFamily="34" charset="0"/>
                <a:ea typeface="Montserrat Medium" pitchFamily="34" charset="-122"/>
                <a:cs typeface="Montserrat Medium" pitchFamily="34" charset="-120"/>
              </a:rPr>
              <a:t>Genetic Algorithm</a:t>
            </a:r>
            <a:endParaRPr lang="en-US" sz="2100" dirty="0"/>
          </a:p>
        </p:txBody>
      </p:sp>
      <p:sp>
        <p:nvSpPr>
          <p:cNvPr id="24" name="Text 16"/>
          <p:cNvSpPr/>
          <p:nvPr/>
        </p:nvSpPr>
        <p:spPr>
          <a:xfrm>
            <a:off x="5451038" y="6000036"/>
            <a:ext cx="3728204" cy="696039"/>
          </a:xfrm>
          <a:prstGeom prst="rect">
            <a:avLst/>
          </a:prstGeom>
          <a:noFill/>
          <a:ln/>
        </p:spPr>
        <p:txBody>
          <a:bodyPr wrap="squar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Chất lượng nghiệm tốt nhưng runtime cao nhất do chi phí tiến hóa.</a:t>
            </a:r>
            <a:endParaRPr lang="en-US" sz="1700" dirty="0"/>
          </a:p>
        </p:txBody>
      </p:sp>
      <p:sp>
        <p:nvSpPr>
          <p:cNvPr id="25" name="Shape 17"/>
          <p:cNvSpPr/>
          <p:nvPr/>
        </p:nvSpPr>
        <p:spPr>
          <a:xfrm>
            <a:off x="9644777" y="4985742"/>
            <a:ext cx="4224218" cy="2306360"/>
          </a:xfrm>
          <a:prstGeom prst="roundRect">
            <a:avLst>
              <a:gd name="adj" fmla="val 6344"/>
            </a:avLst>
          </a:prstGeom>
          <a:solidFill>
            <a:srgbClr val="FFFFFF"/>
          </a:solidFill>
          <a:ln/>
        </p:spPr>
        <p:txBody>
          <a:bodyPr/>
          <a:lstStyle/>
          <a:p>
            <a:endParaRPr lang="en-US"/>
          </a:p>
        </p:txBody>
      </p:sp>
      <p:pic>
        <p:nvPicPr>
          <p:cNvPr id="26" name="Image 6" descr="preencoded.png"/>
          <p:cNvPicPr>
            <a:picLocks noChangeAspect="1"/>
          </p:cNvPicPr>
          <p:nvPr/>
        </p:nvPicPr>
        <p:blipFill>
          <a:blip r:embed="rId3"/>
          <a:stretch>
            <a:fillRect/>
          </a:stretch>
        </p:blipFill>
        <p:spPr>
          <a:xfrm>
            <a:off x="9644777" y="4955262"/>
            <a:ext cx="4224218" cy="121920"/>
          </a:xfrm>
          <a:prstGeom prst="rect">
            <a:avLst/>
          </a:prstGeom>
        </p:spPr>
      </p:pic>
      <p:pic>
        <p:nvPicPr>
          <p:cNvPr id="27" name="Image 7" descr="preencoded.png"/>
          <p:cNvPicPr>
            <a:picLocks noChangeAspect="1"/>
          </p:cNvPicPr>
          <p:nvPr/>
        </p:nvPicPr>
        <p:blipFill>
          <a:blip r:embed="rId4"/>
          <a:stretch>
            <a:fillRect/>
          </a:stretch>
        </p:blipFill>
        <p:spPr>
          <a:xfrm>
            <a:off x="11430536" y="4659511"/>
            <a:ext cx="652582" cy="652582"/>
          </a:xfrm>
          <a:prstGeom prst="rect">
            <a:avLst/>
          </a:prstGeom>
        </p:spPr>
      </p:pic>
      <p:pic>
        <p:nvPicPr>
          <p:cNvPr id="28" name="Image 8" descr="preencoded.png"/>
          <p:cNvPicPr>
            <a:picLocks noChangeAspect="1"/>
          </p:cNvPicPr>
          <p:nvPr/>
        </p:nvPicPr>
        <p:blipFill>
          <a:blip r:embed="rId7"/>
          <a:stretch>
            <a:fillRect/>
          </a:stretch>
        </p:blipFill>
        <p:spPr>
          <a:xfrm>
            <a:off x="11626275" y="4822627"/>
            <a:ext cx="260985" cy="326231"/>
          </a:xfrm>
          <a:prstGeom prst="rect">
            <a:avLst/>
          </a:prstGeom>
        </p:spPr>
      </p:pic>
      <p:sp>
        <p:nvSpPr>
          <p:cNvPr id="29" name="Text 18"/>
          <p:cNvSpPr/>
          <p:nvPr/>
        </p:nvSpPr>
        <p:spPr>
          <a:xfrm>
            <a:off x="9892784" y="5529620"/>
            <a:ext cx="2905244" cy="339923"/>
          </a:xfrm>
          <a:prstGeom prst="rect">
            <a:avLst/>
          </a:prstGeom>
          <a:noFill/>
          <a:ln/>
        </p:spPr>
        <p:txBody>
          <a:bodyPr wrap="none" lIns="0" tIns="0" rIns="0" bIns="0" rtlCol="0" anchor="t"/>
          <a:lstStyle/>
          <a:p>
            <a:pPr marL="0" indent="0" algn="l">
              <a:lnSpc>
                <a:spcPts val="2650"/>
              </a:lnSpc>
              <a:buNone/>
            </a:pPr>
            <a:r>
              <a:rPr lang="en-US" sz="2100" dirty="0">
                <a:solidFill>
                  <a:srgbClr val="3D3E44"/>
                </a:solidFill>
                <a:latin typeface="Montserrat Medium" pitchFamily="34" charset="0"/>
                <a:ea typeface="Montserrat Medium" pitchFamily="34" charset="-122"/>
                <a:cs typeface="Montserrat Medium" pitchFamily="34" charset="-120"/>
              </a:rPr>
              <a:t>Simulated Annealing</a:t>
            </a:r>
            <a:endParaRPr lang="en-US" sz="2100" dirty="0"/>
          </a:p>
        </p:txBody>
      </p:sp>
      <p:sp>
        <p:nvSpPr>
          <p:cNvPr id="30" name="Text 19"/>
          <p:cNvSpPr/>
          <p:nvPr/>
        </p:nvSpPr>
        <p:spPr>
          <a:xfrm>
            <a:off x="9892784" y="6000036"/>
            <a:ext cx="3728204" cy="1044059"/>
          </a:xfrm>
          <a:prstGeom prst="rect">
            <a:avLst/>
          </a:prstGeom>
          <a:noFill/>
          <a:ln/>
        </p:spPr>
        <p:txBody>
          <a:bodyPr wrap="squar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Thời gian chạy nhỏ nhưng chất lượng nghiệm giảm đáng kể khi N tăng.</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50542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Kết Luận Chương I: Lựa Chọn Thuật Toán TSP</a:t>
            </a:r>
            <a:endParaRPr lang="en-US" sz="4450" dirty="0"/>
          </a:p>
        </p:txBody>
      </p:sp>
      <p:sp>
        <p:nvSpPr>
          <p:cNvPr id="4" name="Shape 1"/>
          <p:cNvSpPr/>
          <p:nvPr/>
        </p:nvSpPr>
        <p:spPr>
          <a:xfrm>
            <a:off x="793790" y="3263146"/>
            <a:ext cx="30480" cy="3460909"/>
          </a:xfrm>
          <a:prstGeom prst="roundRect">
            <a:avLst>
              <a:gd name="adj" fmla="val 669768"/>
            </a:avLst>
          </a:prstGeom>
          <a:solidFill>
            <a:srgbClr val="C5C7D2"/>
          </a:solidFill>
          <a:ln/>
        </p:spPr>
        <p:txBody>
          <a:bodyPr/>
          <a:lstStyle/>
          <a:p>
            <a:endParaRPr lang="en-US"/>
          </a:p>
        </p:txBody>
      </p:sp>
      <p:sp>
        <p:nvSpPr>
          <p:cNvPr id="5" name="Shape 2"/>
          <p:cNvSpPr/>
          <p:nvPr/>
        </p:nvSpPr>
        <p:spPr>
          <a:xfrm>
            <a:off x="824270" y="3263146"/>
            <a:ext cx="7556421" cy="1322189"/>
          </a:xfrm>
          <a:prstGeom prst="rect">
            <a:avLst/>
          </a:prstGeom>
          <a:solidFill>
            <a:srgbClr val="EFF0F6"/>
          </a:solidFill>
          <a:ln w="7620">
            <a:solidFill>
              <a:srgbClr val="C5C7D2"/>
            </a:solidFill>
            <a:prstDash val="solid"/>
          </a:ln>
        </p:spPr>
        <p:txBody>
          <a:bodyPr/>
          <a:lstStyle/>
          <a:p>
            <a:endParaRPr lang="en-US"/>
          </a:p>
        </p:txBody>
      </p:sp>
      <p:sp>
        <p:nvSpPr>
          <p:cNvPr id="6" name="Text 3"/>
          <p:cNvSpPr/>
          <p:nvPr/>
        </p:nvSpPr>
        <p:spPr>
          <a:xfrm>
            <a:off x="1051084" y="3497580"/>
            <a:ext cx="3324820"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Bài Toán Nhỏ (N=10-20)</a:t>
            </a:r>
            <a:endParaRPr lang="en-US" sz="2200" dirty="0"/>
          </a:p>
        </p:txBody>
      </p:sp>
      <p:sp>
        <p:nvSpPr>
          <p:cNvPr id="7" name="Text 4"/>
          <p:cNvSpPr/>
          <p:nvPr/>
        </p:nvSpPr>
        <p:spPr>
          <a:xfrm>
            <a:off x="1051084" y="3987998"/>
            <a:ext cx="7095173" cy="362903"/>
          </a:xfrm>
          <a:prstGeom prst="rect">
            <a:avLst/>
          </a:prstGeom>
          <a:noFill/>
          <a:ln/>
        </p:spPr>
        <p:txBody>
          <a:bodyPr wrap="non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Steepest-Ascent hoặc GA: Tìm được lời giải chất lượng cao nhất.</a:t>
            </a:r>
            <a:endParaRPr lang="en-US" sz="1750" dirty="0"/>
          </a:p>
        </p:txBody>
      </p:sp>
      <p:sp>
        <p:nvSpPr>
          <p:cNvPr id="8" name="Shape 5"/>
          <p:cNvSpPr/>
          <p:nvPr/>
        </p:nvSpPr>
        <p:spPr>
          <a:xfrm>
            <a:off x="824270" y="5038963"/>
            <a:ext cx="7556421" cy="1685092"/>
          </a:xfrm>
          <a:prstGeom prst="rect">
            <a:avLst/>
          </a:prstGeom>
          <a:solidFill>
            <a:srgbClr val="EFF0F6"/>
          </a:solidFill>
          <a:ln w="7620">
            <a:solidFill>
              <a:srgbClr val="C5C7D2"/>
            </a:solidFill>
            <a:prstDash val="solid"/>
          </a:ln>
        </p:spPr>
        <p:txBody>
          <a:bodyPr/>
          <a:lstStyle/>
          <a:p>
            <a:endParaRPr lang="en-US"/>
          </a:p>
        </p:txBody>
      </p:sp>
      <p:sp>
        <p:nvSpPr>
          <p:cNvPr id="9" name="Text 6"/>
          <p:cNvSpPr/>
          <p:nvPr/>
        </p:nvSpPr>
        <p:spPr>
          <a:xfrm>
            <a:off x="1051084" y="5273397"/>
            <a:ext cx="3027521"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Bài Toán Lớn (N=50+)</a:t>
            </a:r>
            <a:endParaRPr lang="en-US" sz="2200" dirty="0"/>
          </a:p>
        </p:txBody>
      </p:sp>
      <p:sp>
        <p:nvSpPr>
          <p:cNvPr id="10" name="Text 7"/>
          <p:cNvSpPr/>
          <p:nvPr/>
        </p:nvSpPr>
        <p:spPr>
          <a:xfrm>
            <a:off x="1051084" y="5763816"/>
            <a:ext cx="7095173"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Stochastic HC hoặc First-choice HC: Hiệu quả hơn, giữ runtime thấp mà nghiệm vẫn khá tốt.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793790" y="1289566"/>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Chương II: So Sánh Chi Tiết Local Search &amp; Metaheuristic</a:t>
            </a:r>
            <a:endParaRPr lang="en-US" sz="4450" dirty="0"/>
          </a:p>
        </p:txBody>
      </p:sp>
      <p:sp>
        <p:nvSpPr>
          <p:cNvPr id="3" name="Text 1"/>
          <p:cNvSpPr/>
          <p:nvPr/>
        </p:nvSpPr>
        <p:spPr>
          <a:xfrm>
            <a:off x="793790" y="3160752"/>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Nghiên cứu sâu hơn về các chiến lược lân cận và cơ chế tiến hóa trong TSP.</a:t>
            </a:r>
            <a:endParaRPr lang="en-US" sz="1750" dirty="0"/>
          </a:p>
        </p:txBody>
      </p:sp>
      <p:pic>
        <p:nvPicPr>
          <p:cNvPr id="4" name="Image 0" descr="preencoded.png"/>
          <p:cNvPicPr>
            <a:picLocks noChangeAspect="1"/>
          </p:cNvPicPr>
          <p:nvPr/>
        </p:nvPicPr>
        <p:blipFill>
          <a:blip r:embed="rId3"/>
          <a:stretch>
            <a:fillRect/>
          </a:stretch>
        </p:blipFill>
        <p:spPr>
          <a:xfrm>
            <a:off x="793790" y="3778806"/>
            <a:ext cx="680442" cy="680442"/>
          </a:xfrm>
          <a:prstGeom prst="rect">
            <a:avLst/>
          </a:prstGeom>
        </p:spPr>
      </p:pic>
      <p:sp>
        <p:nvSpPr>
          <p:cNvPr id="5" name="Text 2"/>
          <p:cNvSpPr/>
          <p:nvPr/>
        </p:nvSpPr>
        <p:spPr>
          <a:xfrm>
            <a:off x="793790" y="474273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Hill Climbing</a:t>
            </a:r>
            <a:endParaRPr lang="en-US" sz="2200" dirty="0"/>
          </a:p>
        </p:txBody>
      </p:sp>
      <p:sp>
        <p:nvSpPr>
          <p:cNvPr id="6" name="Text 3"/>
          <p:cNvSpPr/>
          <p:nvPr/>
        </p:nvSpPr>
        <p:spPr>
          <a:xfrm>
            <a:off x="793790" y="5233154"/>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Random Restart cải thiện chất lượng nghiệm đáng kể do thoát khỏi cực trị địa phương.</a:t>
            </a:r>
            <a:endParaRPr lang="en-US" sz="1750" dirty="0"/>
          </a:p>
        </p:txBody>
      </p:sp>
      <p:pic>
        <p:nvPicPr>
          <p:cNvPr id="7" name="Image 1" descr="preencoded.png"/>
          <p:cNvPicPr>
            <a:picLocks noChangeAspect="1"/>
          </p:cNvPicPr>
          <p:nvPr/>
        </p:nvPicPr>
        <p:blipFill>
          <a:blip r:embed="rId4"/>
          <a:stretch>
            <a:fillRect/>
          </a:stretch>
        </p:blipFill>
        <p:spPr>
          <a:xfrm>
            <a:off x="5235893" y="3778806"/>
            <a:ext cx="680442" cy="680442"/>
          </a:xfrm>
          <a:prstGeom prst="rect">
            <a:avLst/>
          </a:prstGeom>
        </p:spPr>
      </p:pic>
      <p:sp>
        <p:nvSpPr>
          <p:cNvPr id="8" name="Text 4"/>
          <p:cNvSpPr/>
          <p:nvPr/>
        </p:nvSpPr>
        <p:spPr>
          <a:xfrm>
            <a:off x="5235893" y="4742736"/>
            <a:ext cx="3028712"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Simulated Annealing</a:t>
            </a:r>
            <a:endParaRPr lang="en-US" sz="2200" dirty="0"/>
          </a:p>
        </p:txBody>
      </p:sp>
      <p:sp>
        <p:nvSpPr>
          <p:cNvPr id="9" name="Text 5"/>
          <p:cNvSpPr/>
          <p:nvPr/>
        </p:nvSpPr>
        <p:spPr>
          <a:xfrm>
            <a:off x="5235893" y="5233154"/>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Reverse move (đảo ngược đoạn tour) thường hiệu quả hơn swap move.</a:t>
            </a:r>
            <a:endParaRPr lang="en-US" sz="1750" dirty="0"/>
          </a:p>
        </p:txBody>
      </p:sp>
      <p:pic>
        <p:nvPicPr>
          <p:cNvPr id="10" name="Image 2" descr="preencoded.png"/>
          <p:cNvPicPr>
            <a:picLocks noChangeAspect="1"/>
          </p:cNvPicPr>
          <p:nvPr/>
        </p:nvPicPr>
        <p:blipFill>
          <a:blip r:embed="rId5"/>
          <a:stretch>
            <a:fillRect/>
          </a:stretch>
        </p:blipFill>
        <p:spPr>
          <a:xfrm>
            <a:off x="9677995" y="3778806"/>
            <a:ext cx="680442" cy="680442"/>
          </a:xfrm>
          <a:prstGeom prst="rect">
            <a:avLst/>
          </a:prstGeom>
        </p:spPr>
      </p:pic>
      <p:sp>
        <p:nvSpPr>
          <p:cNvPr id="11" name="Text 6"/>
          <p:cNvSpPr/>
          <p:nvPr/>
        </p:nvSpPr>
        <p:spPr>
          <a:xfrm>
            <a:off x="9677995" y="474273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Genetic Algorithm</a:t>
            </a:r>
            <a:endParaRPr lang="en-US" sz="2200" dirty="0"/>
          </a:p>
        </p:txBody>
      </p:sp>
      <p:sp>
        <p:nvSpPr>
          <p:cNvPr id="12" name="Text 7"/>
          <p:cNvSpPr/>
          <p:nvPr/>
        </p:nvSpPr>
        <p:spPr>
          <a:xfrm>
            <a:off x="9677995" y="5233154"/>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Sử dụng Order Crossover (OX) và Tournament Selection. Ổn định hơn SA.</a:t>
            </a:r>
            <a:endParaRPr lang="en-US" sz="1750" dirty="0"/>
          </a:p>
        </p:txBody>
      </p:sp>
      <p:sp>
        <p:nvSpPr>
          <p:cNvPr id="13" name="Text 8"/>
          <p:cNvSpPr/>
          <p:nvPr/>
        </p:nvSpPr>
        <p:spPr>
          <a:xfrm>
            <a:off x="793790" y="657701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Kết luận: GA thường cho kết quả tốt nhất khi số thành phố tăng, nhưng tốn thời gian hơn Hill Climbing.</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60095" y="597218"/>
            <a:ext cx="8467487" cy="678656"/>
          </a:xfrm>
          <a:prstGeom prst="rect">
            <a:avLst/>
          </a:prstGeom>
          <a:noFill/>
          <a:ln/>
        </p:spPr>
        <p:txBody>
          <a:bodyPr wrap="none" lIns="0" tIns="0" rIns="0" bIns="0" rtlCol="0" anchor="t"/>
          <a:lstStyle/>
          <a:p>
            <a:pPr marL="0" indent="0" algn="l">
              <a:lnSpc>
                <a:spcPts val="5300"/>
              </a:lnSpc>
              <a:buNone/>
            </a:pPr>
            <a:r>
              <a:rPr lang="en-US" sz="4250" b="1" dirty="0">
                <a:solidFill>
                  <a:srgbClr val="74767D"/>
                </a:solidFill>
                <a:latin typeface="Montserrat Medium" pitchFamily="34" charset="0"/>
                <a:ea typeface="Montserrat Medium" pitchFamily="34" charset="-122"/>
                <a:cs typeface="Montserrat Medium" pitchFamily="34" charset="-120"/>
              </a:rPr>
              <a:t>Local Search và Metaheuristic</a:t>
            </a:r>
            <a:endParaRPr lang="en-US" sz="4250" dirty="0"/>
          </a:p>
        </p:txBody>
      </p:sp>
      <p:sp>
        <p:nvSpPr>
          <p:cNvPr id="3" name="Text 1"/>
          <p:cNvSpPr/>
          <p:nvPr/>
        </p:nvSpPr>
        <p:spPr>
          <a:xfrm>
            <a:off x="760095" y="1601629"/>
            <a:ext cx="4343400" cy="542925"/>
          </a:xfrm>
          <a:prstGeom prst="rect">
            <a:avLst/>
          </a:prstGeom>
          <a:noFill/>
          <a:ln/>
        </p:spPr>
        <p:txBody>
          <a:bodyPr wrap="none" lIns="0" tIns="0" rIns="0" bIns="0" rtlCol="0" anchor="t"/>
          <a:lstStyle/>
          <a:p>
            <a:pPr marL="0" indent="0" algn="l">
              <a:lnSpc>
                <a:spcPts val="4250"/>
              </a:lnSpc>
              <a:buNone/>
            </a:pPr>
            <a:r>
              <a:rPr lang="en-US" sz="3400" dirty="0">
                <a:solidFill>
                  <a:srgbClr val="74767D"/>
                </a:solidFill>
                <a:latin typeface="Montserrat Medium" pitchFamily="34" charset="0"/>
                <a:ea typeface="Montserrat Medium" pitchFamily="34" charset="-122"/>
                <a:cs typeface="Montserrat Medium" pitchFamily="34" charset="-120"/>
              </a:rPr>
              <a:t>2.1. Hill Climbing</a:t>
            </a:r>
            <a:endParaRPr lang="en-US" sz="3400" dirty="0"/>
          </a:p>
        </p:txBody>
      </p:sp>
      <p:pic>
        <p:nvPicPr>
          <p:cNvPr id="4" name="Image 0" descr="preencoded.png"/>
          <p:cNvPicPr>
            <a:picLocks noChangeAspect="1"/>
          </p:cNvPicPr>
          <p:nvPr/>
        </p:nvPicPr>
        <p:blipFill>
          <a:blip r:embed="rId3"/>
          <a:stretch>
            <a:fillRect/>
          </a:stretch>
        </p:blipFill>
        <p:spPr>
          <a:xfrm>
            <a:off x="760095" y="2714625"/>
            <a:ext cx="4926092" cy="4926092"/>
          </a:xfrm>
          <a:prstGeom prst="rect">
            <a:avLst/>
          </a:prstGeom>
        </p:spPr>
      </p:pic>
      <p:sp>
        <p:nvSpPr>
          <p:cNvPr id="5" name="Text 2"/>
          <p:cNvSpPr/>
          <p:nvPr/>
        </p:nvSpPr>
        <p:spPr>
          <a:xfrm>
            <a:off x="6223635" y="2665690"/>
            <a:ext cx="7654171" cy="694849"/>
          </a:xfrm>
          <a:prstGeom prst="rect">
            <a:avLst/>
          </a:prstGeom>
          <a:noFill/>
          <a:ln/>
        </p:spPr>
        <p:txBody>
          <a:bodyPr wrap="squar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Thuật toán tìm kiếm cục bộ cải thiện dần giải pháp bằng cách di chuyển đến một lân cận tốt hơn. Có các biến thể chính:</a:t>
            </a:r>
            <a:endParaRPr lang="en-US" sz="1700" dirty="0"/>
          </a:p>
        </p:txBody>
      </p:sp>
      <p:sp>
        <p:nvSpPr>
          <p:cNvPr id="6" name="Text 3"/>
          <p:cNvSpPr/>
          <p:nvPr/>
        </p:nvSpPr>
        <p:spPr>
          <a:xfrm>
            <a:off x="6223635" y="3555921"/>
            <a:ext cx="7654171" cy="347424"/>
          </a:xfrm>
          <a:prstGeom prst="rect">
            <a:avLst/>
          </a:prstGeom>
          <a:noFill/>
          <a:ln/>
        </p:spPr>
        <p:txBody>
          <a:bodyPr wrap="none" lIns="0" tIns="0" rIns="0" bIns="0" rtlCol="0" anchor="t"/>
          <a:lstStyle/>
          <a:p>
            <a:pPr marL="342900" indent="-342900" algn="l">
              <a:lnSpc>
                <a:spcPts val="2700"/>
              </a:lnSpc>
              <a:buSzPct val="100000"/>
              <a:buChar char="•"/>
            </a:pPr>
            <a:r>
              <a:rPr lang="en-US" sz="1700" b="1" dirty="0">
                <a:solidFill>
                  <a:srgbClr val="3D3E44"/>
                </a:solidFill>
                <a:latin typeface="Inter Light" pitchFamily="34" charset="0"/>
                <a:ea typeface="Inter Light" pitchFamily="34" charset="-122"/>
                <a:cs typeface="Inter Light" pitchFamily="34" charset="-120"/>
              </a:rPr>
              <a:t>Steepest Ascent:</a:t>
            </a:r>
            <a:r>
              <a:rPr lang="en-US" sz="1700" dirty="0">
                <a:solidFill>
                  <a:srgbClr val="3D3E44"/>
                </a:solidFill>
                <a:latin typeface="Inter Light" pitchFamily="34" charset="0"/>
                <a:ea typeface="Inter Light" pitchFamily="34" charset="-122"/>
                <a:cs typeface="Inter Light" pitchFamily="34" charset="-120"/>
              </a:rPr>
              <a:t> Chọn lân cận tốt nhất trong tất cả các lân cận.</a:t>
            </a:r>
            <a:endParaRPr lang="en-US" sz="1700" dirty="0"/>
          </a:p>
        </p:txBody>
      </p:sp>
      <p:sp>
        <p:nvSpPr>
          <p:cNvPr id="7" name="Text 4"/>
          <p:cNvSpPr/>
          <p:nvPr/>
        </p:nvSpPr>
        <p:spPr>
          <a:xfrm>
            <a:off x="6223635" y="3979307"/>
            <a:ext cx="7654171" cy="347424"/>
          </a:xfrm>
          <a:prstGeom prst="rect">
            <a:avLst/>
          </a:prstGeom>
          <a:noFill/>
          <a:ln/>
        </p:spPr>
        <p:txBody>
          <a:bodyPr wrap="none" lIns="0" tIns="0" rIns="0" bIns="0" rtlCol="0" anchor="t"/>
          <a:lstStyle/>
          <a:p>
            <a:pPr marL="342900" indent="-342900" algn="l">
              <a:lnSpc>
                <a:spcPts val="2700"/>
              </a:lnSpc>
              <a:buSzPct val="100000"/>
              <a:buChar char="•"/>
            </a:pPr>
            <a:r>
              <a:rPr lang="en-US" sz="1700" b="1" dirty="0">
                <a:solidFill>
                  <a:srgbClr val="3D3E44"/>
                </a:solidFill>
                <a:latin typeface="Inter Light" pitchFamily="34" charset="0"/>
                <a:ea typeface="Inter Light" pitchFamily="34" charset="-122"/>
                <a:cs typeface="Inter Light" pitchFamily="34" charset="-120"/>
              </a:rPr>
              <a:t>Stochastic:</a:t>
            </a:r>
            <a:r>
              <a:rPr lang="en-US" sz="1700" dirty="0">
                <a:solidFill>
                  <a:srgbClr val="3D3E44"/>
                </a:solidFill>
                <a:latin typeface="Inter Light" pitchFamily="34" charset="0"/>
                <a:ea typeface="Inter Light" pitchFamily="34" charset="-122"/>
                <a:cs typeface="Inter Light" pitchFamily="34" charset="-120"/>
              </a:rPr>
              <a:t> Chọn ngẫu nhiên một lân cận, nếu cải thiện thì chấp nhận.</a:t>
            </a:r>
            <a:endParaRPr lang="en-US" sz="1700" dirty="0"/>
          </a:p>
        </p:txBody>
      </p:sp>
      <p:sp>
        <p:nvSpPr>
          <p:cNvPr id="8" name="Text 5"/>
          <p:cNvSpPr/>
          <p:nvPr/>
        </p:nvSpPr>
        <p:spPr>
          <a:xfrm>
            <a:off x="6223635" y="4402693"/>
            <a:ext cx="7654171" cy="694849"/>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D3E44"/>
                </a:solidFill>
                <a:latin typeface="Inter Light" pitchFamily="34" charset="0"/>
                <a:ea typeface="Inter Light" pitchFamily="34" charset="-122"/>
                <a:cs typeface="Inter Light" pitchFamily="34" charset="-120"/>
              </a:rPr>
              <a:t>Random Restart:</a:t>
            </a:r>
            <a:r>
              <a:rPr lang="en-US" sz="1700" dirty="0">
                <a:solidFill>
                  <a:srgbClr val="3D3E44"/>
                </a:solidFill>
                <a:latin typeface="Inter Light" pitchFamily="34" charset="0"/>
                <a:ea typeface="Inter Light" pitchFamily="34" charset="-122"/>
                <a:cs typeface="Inter Light" pitchFamily="34" charset="-120"/>
              </a:rPr>
              <a:t> Thực hiện Hill Climbing nhiều lần từ các điểm khởi tạo ngẫu nhiên để tránh mắc kẹt ở cực trị địa phương.</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2" name="Text 0"/>
          <p:cNvSpPr/>
          <p:nvPr/>
        </p:nvSpPr>
        <p:spPr>
          <a:xfrm>
            <a:off x="793790" y="1006078"/>
            <a:ext cx="6750963" cy="566976"/>
          </a:xfrm>
          <a:prstGeom prst="rect">
            <a:avLst/>
          </a:prstGeom>
          <a:noFill/>
          <a:ln/>
        </p:spPr>
        <p:txBody>
          <a:bodyPr wrap="none" lIns="0" tIns="0" rIns="0" bIns="0" rtlCol="0" anchor="t"/>
          <a:lstStyle/>
          <a:p>
            <a:pPr marL="0" indent="0" algn="l">
              <a:lnSpc>
                <a:spcPts val="4450"/>
              </a:lnSpc>
              <a:buNone/>
            </a:pPr>
            <a:r>
              <a:rPr lang="en-US" sz="3550" dirty="0">
                <a:solidFill>
                  <a:srgbClr val="74767D"/>
                </a:solidFill>
                <a:latin typeface="Montserrat Medium" pitchFamily="34" charset="0"/>
                <a:ea typeface="Montserrat Medium" pitchFamily="34" charset="-122"/>
                <a:cs typeface="Montserrat Medium" pitchFamily="34" charset="-120"/>
              </a:rPr>
              <a:t>2.2. Simulated Annealing (SA)</a:t>
            </a:r>
            <a:endParaRPr lang="en-US" sz="3550" dirty="0"/>
          </a:p>
        </p:txBody>
      </p:sp>
      <p:pic>
        <p:nvPicPr>
          <p:cNvPr id="3" name="Image 0" descr="preencoded.png"/>
          <p:cNvPicPr>
            <a:picLocks noChangeAspect="1"/>
          </p:cNvPicPr>
          <p:nvPr/>
        </p:nvPicPr>
        <p:blipFill>
          <a:blip r:embed="rId3"/>
          <a:stretch>
            <a:fillRect/>
          </a:stretch>
        </p:blipFill>
        <p:spPr>
          <a:xfrm>
            <a:off x="793790" y="2083356"/>
            <a:ext cx="4885015" cy="4885015"/>
          </a:xfrm>
          <a:prstGeom prst="rect">
            <a:avLst/>
          </a:prstGeom>
        </p:spPr>
      </p:pic>
      <p:sp>
        <p:nvSpPr>
          <p:cNvPr id="4" name="Text 1"/>
          <p:cNvSpPr/>
          <p:nvPr/>
        </p:nvSpPr>
        <p:spPr>
          <a:xfrm>
            <a:off x="6239828" y="2032278"/>
            <a:ext cx="7604284" cy="1088708"/>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Mô phỏng quá trình tôi luyện kim loại. Thuật toán chấp nhận nghiệm xấu với xác suất giảm dần theo thời gian (nhiệt độ T), cho phép thoát khỏi các cực tiểu cục bộ.</a:t>
            </a:r>
            <a:endParaRPr lang="en-US" sz="1750" dirty="0"/>
          </a:p>
        </p:txBody>
      </p:sp>
      <p:sp>
        <p:nvSpPr>
          <p:cNvPr id="5" name="Text 2"/>
          <p:cNvSpPr/>
          <p:nvPr/>
        </p:nvSpPr>
        <p:spPr>
          <a:xfrm>
            <a:off x="6239828" y="3325058"/>
            <a:ext cx="7604284" cy="362903"/>
          </a:xfrm>
          <a:prstGeom prst="rect">
            <a:avLst/>
          </a:prstGeom>
          <a:noFill/>
          <a:ln/>
        </p:spPr>
        <p:txBody>
          <a:bodyPr wrap="none" lIns="0" tIns="0" rIns="0" bIns="0" rtlCol="0" anchor="t"/>
          <a:lstStyle/>
          <a:p>
            <a:pPr marL="0" indent="0" algn="l">
              <a:lnSpc>
                <a:spcPts val="2850"/>
              </a:lnSpc>
              <a:buNone/>
            </a:pPr>
            <a:r>
              <a:rPr lang="en-US" sz="1750" b="1" dirty="0">
                <a:solidFill>
                  <a:srgbClr val="3D3E44"/>
                </a:solidFill>
                <a:latin typeface="Inter Light" pitchFamily="34" charset="0"/>
                <a:ea typeface="Inter Light" pitchFamily="34" charset="-122"/>
                <a:cs typeface="Inter Light" pitchFamily="34" charset="-120"/>
              </a:rPr>
              <a:t>Chiến lược lân cận thường dùng:</a:t>
            </a:r>
            <a:endParaRPr lang="en-US" sz="1750" dirty="0"/>
          </a:p>
        </p:txBody>
      </p:sp>
      <p:sp>
        <p:nvSpPr>
          <p:cNvPr id="6" name="Text 3"/>
          <p:cNvSpPr/>
          <p:nvPr/>
        </p:nvSpPr>
        <p:spPr>
          <a:xfrm>
            <a:off x="6239828" y="3892034"/>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Swap move:</a:t>
            </a:r>
            <a:r>
              <a:rPr lang="en-US" sz="1750" dirty="0">
                <a:solidFill>
                  <a:srgbClr val="3D3E44"/>
                </a:solidFill>
                <a:latin typeface="Inter Light" pitchFamily="34" charset="0"/>
                <a:ea typeface="Inter Light" pitchFamily="34" charset="-122"/>
                <a:cs typeface="Inter Light" pitchFamily="34" charset="-120"/>
              </a:rPr>
              <a:t> Đổi chỗ ngẫu nhiên hai thành phố.</a:t>
            </a:r>
            <a:endParaRPr lang="en-US" sz="1750" dirty="0"/>
          </a:p>
        </p:txBody>
      </p:sp>
      <p:sp>
        <p:nvSpPr>
          <p:cNvPr id="7" name="Text 4"/>
          <p:cNvSpPr/>
          <p:nvPr/>
        </p:nvSpPr>
        <p:spPr>
          <a:xfrm>
            <a:off x="6239828" y="4334232"/>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Reverse move:</a:t>
            </a:r>
            <a:r>
              <a:rPr lang="en-US" sz="1750" dirty="0">
                <a:solidFill>
                  <a:srgbClr val="3D3E44"/>
                </a:solidFill>
                <a:latin typeface="Inter Light" pitchFamily="34" charset="0"/>
                <a:ea typeface="Inter Light" pitchFamily="34" charset="-122"/>
                <a:cs typeface="Inter Light" pitchFamily="34" charset="-120"/>
              </a:rPr>
              <a:t> Đảo ngược thứ tự một đoạn trong tour.</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 11">
    <p:spTree>
      <p:nvGrpSpPr>
        <p:cNvPr id="1" name=""/>
        <p:cNvGrpSpPr/>
        <p:nvPr/>
      </p:nvGrpSpPr>
      <p:grpSpPr>
        <a:xfrm>
          <a:off x="0" y="0"/>
          <a:ext cx="0" cy="0"/>
          <a:chOff x="0" y="0"/>
          <a:chExt cx="0" cy="0"/>
        </a:xfrm>
      </p:grpSpPr>
      <p:sp>
        <p:nvSpPr>
          <p:cNvPr id="2" name="Text 0"/>
          <p:cNvSpPr/>
          <p:nvPr/>
        </p:nvSpPr>
        <p:spPr>
          <a:xfrm>
            <a:off x="793790" y="1006078"/>
            <a:ext cx="6219468" cy="566976"/>
          </a:xfrm>
          <a:prstGeom prst="rect">
            <a:avLst/>
          </a:prstGeom>
          <a:noFill/>
          <a:ln/>
        </p:spPr>
        <p:txBody>
          <a:bodyPr wrap="none" lIns="0" tIns="0" rIns="0" bIns="0" rtlCol="0" anchor="t"/>
          <a:lstStyle/>
          <a:p>
            <a:pPr marL="0" indent="0" algn="l">
              <a:lnSpc>
                <a:spcPts val="4450"/>
              </a:lnSpc>
              <a:buNone/>
            </a:pPr>
            <a:r>
              <a:rPr lang="en-US" sz="3550" dirty="0">
                <a:solidFill>
                  <a:srgbClr val="74767D"/>
                </a:solidFill>
                <a:latin typeface="Montserrat Medium" pitchFamily="34" charset="0"/>
                <a:ea typeface="Montserrat Medium" pitchFamily="34" charset="-122"/>
                <a:cs typeface="Montserrat Medium" pitchFamily="34" charset="-120"/>
              </a:rPr>
              <a:t>2.3. Genetic Algorithm (GA)</a:t>
            </a:r>
            <a:endParaRPr lang="en-US" sz="3550" dirty="0"/>
          </a:p>
        </p:txBody>
      </p:sp>
      <p:pic>
        <p:nvPicPr>
          <p:cNvPr id="3" name="Image 0" descr="preencoded.png"/>
          <p:cNvPicPr>
            <a:picLocks noChangeAspect="1"/>
          </p:cNvPicPr>
          <p:nvPr/>
        </p:nvPicPr>
        <p:blipFill>
          <a:blip r:embed="rId3"/>
          <a:stretch>
            <a:fillRect/>
          </a:stretch>
        </p:blipFill>
        <p:spPr>
          <a:xfrm>
            <a:off x="793790" y="2083356"/>
            <a:ext cx="4885015" cy="4885015"/>
          </a:xfrm>
          <a:prstGeom prst="rect">
            <a:avLst/>
          </a:prstGeom>
        </p:spPr>
      </p:pic>
      <p:sp>
        <p:nvSpPr>
          <p:cNvPr id="4" name="Text 1"/>
          <p:cNvSpPr/>
          <p:nvPr/>
        </p:nvSpPr>
        <p:spPr>
          <a:xfrm>
            <a:off x="6239828" y="2032278"/>
            <a:ext cx="7604284"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Dựa trên cơ chế tiến hóa tự nhiên để tìm kiếm giải pháp tối ưu. Các khái niệm cốt lõi bao gồm:</a:t>
            </a:r>
            <a:endParaRPr lang="en-US" sz="1750" dirty="0"/>
          </a:p>
        </p:txBody>
      </p:sp>
      <p:sp>
        <p:nvSpPr>
          <p:cNvPr id="5" name="Text 2"/>
          <p:cNvSpPr/>
          <p:nvPr/>
        </p:nvSpPr>
        <p:spPr>
          <a:xfrm>
            <a:off x="6239828" y="2962156"/>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Crossover:</a:t>
            </a:r>
            <a:r>
              <a:rPr lang="en-US" sz="1750" dirty="0">
                <a:solidFill>
                  <a:srgbClr val="3D3E44"/>
                </a:solidFill>
                <a:latin typeface="Inter Light" pitchFamily="34" charset="0"/>
                <a:ea typeface="Inter Light" pitchFamily="34" charset="-122"/>
                <a:cs typeface="Inter Light" pitchFamily="34" charset="-120"/>
              </a:rPr>
              <a:t> Kết hợp thông tin từ hai "bố mẹ" (thường dùng Order Crossover - OX) để tạo ra "con cái" mới.</a:t>
            </a:r>
            <a:endParaRPr lang="en-US" sz="1750" dirty="0"/>
          </a:p>
        </p:txBody>
      </p:sp>
      <p:sp>
        <p:nvSpPr>
          <p:cNvPr id="6" name="Text 3"/>
          <p:cNvSpPr/>
          <p:nvPr/>
        </p:nvSpPr>
        <p:spPr>
          <a:xfrm>
            <a:off x="6239828" y="3767257"/>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Mutation:</a:t>
            </a:r>
            <a:r>
              <a:rPr lang="en-US" sz="1750" dirty="0">
                <a:solidFill>
                  <a:srgbClr val="3D3E44"/>
                </a:solidFill>
                <a:latin typeface="Inter Light" pitchFamily="34" charset="0"/>
                <a:ea typeface="Inter Light" pitchFamily="34" charset="-122"/>
                <a:cs typeface="Inter Light" pitchFamily="34" charset="-120"/>
              </a:rPr>
              <a:t> Thay đổi nhỏ ngẫu nhiên trong "gen" (ví dụ: hoán đổi hai thành phố - swap mutation) để duy trì đa dạng.</a:t>
            </a:r>
            <a:endParaRPr lang="en-US" sz="1750" dirty="0"/>
          </a:p>
        </p:txBody>
      </p:sp>
      <p:sp>
        <p:nvSpPr>
          <p:cNvPr id="7" name="Text 4"/>
          <p:cNvSpPr/>
          <p:nvPr/>
        </p:nvSpPr>
        <p:spPr>
          <a:xfrm>
            <a:off x="6239828" y="4572357"/>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Selection:</a:t>
            </a:r>
            <a:r>
              <a:rPr lang="en-US" sz="1750" dirty="0">
                <a:solidFill>
                  <a:srgbClr val="3D3E44"/>
                </a:solidFill>
                <a:latin typeface="Inter Light" pitchFamily="34" charset="0"/>
                <a:ea typeface="Inter Light" pitchFamily="34" charset="-122"/>
                <a:cs typeface="Inter Light" pitchFamily="34" charset="-120"/>
              </a:rPr>
              <a:t> Chọn lọc các cá thể ưu tú (thường dùng Tournament Selection) để tiếp tục quá trình tiến hóa.</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name="Slide 12">
    <p:spTree>
      <p:nvGrpSpPr>
        <p:cNvPr id="1" name=""/>
        <p:cNvGrpSpPr/>
        <p:nvPr/>
      </p:nvGrpSpPr>
      <p:grpSpPr>
        <a:xfrm>
          <a:off x="0" y="0"/>
          <a:ext cx="0" cy="0"/>
          <a:chOff x="0" y="0"/>
          <a:chExt cx="0" cy="0"/>
        </a:xfrm>
      </p:grpSpPr>
      <p:sp>
        <p:nvSpPr>
          <p:cNvPr id="2" name="Text 0"/>
          <p:cNvSpPr/>
          <p:nvPr/>
        </p:nvSpPr>
        <p:spPr>
          <a:xfrm>
            <a:off x="793790" y="2246590"/>
            <a:ext cx="6740843"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Thiết Lập Thực Nghiệm</a:t>
            </a:r>
            <a:endParaRPr lang="en-US" sz="4450" dirty="0"/>
          </a:p>
        </p:txBody>
      </p:sp>
      <p:sp>
        <p:nvSpPr>
          <p:cNvPr id="3" name="Text 1"/>
          <p:cNvSpPr/>
          <p:nvPr/>
        </p:nvSpPr>
        <p:spPr>
          <a:xfrm>
            <a:off x="793790" y="340899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Ngôn ngữ lập trình:</a:t>
            </a:r>
            <a:r>
              <a:rPr lang="en-US" sz="1750" dirty="0">
                <a:solidFill>
                  <a:srgbClr val="3D3E44"/>
                </a:solidFill>
                <a:latin typeface="Inter Light" pitchFamily="34" charset="0"/>
                <a:ea typeface="Inter Light" pitchFamily="34" charset="-122"/>
                <a:cs typeface="Inter Light" pitchFamily="34" charset="-120"/>
              </a:rPr>
              <a:t> Python (cài đặt thủ công, không sử dụng thư viện tối ưu chuyên dụng).</a:t>
            </a:r>
            <a:endParaRPr lang="en-US" sz="1750" dirty="0"/>
          </a:p>
        </p:txBody>
      </p:sp>
      <p:sp>
        <p:nvSpPr>
          <p:cNvPr id="4" name="Text 2"/>
          <p:cNvSpPr/>
          <p:nvPr/>
        </p:nvSpPr>
        <p:spPr>
          <a:xfrm>
            <a:off x="793790" y="385119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Kích thước bài toán:</a:t>
            </a:r>
            <a:r>
              <a:rPr lang="en-US" sz="1750" dirty="0">
                <a:solidFill>
                  <a:srgbClr val="3D3E44"/>
                </a:solidFill>
                <a:latin typeface="Inter Light" pitchFamily="34" charset="0"/>
                <a:ea typeface="Inter Light" pitchFamily="34" charset="-122"/>
                <a:cs typeface="Inter Light" pitchFamily="34" charset="-120"/>
              </a:rPr>
              <a:t> 10, 15, 20 thành phố ngẫu nhiên.</a:t>
            </a:r>
            <a:endParaRPr lang="en-US" sz="1750" dirty="0"/>
          </a:p>
        </p:txBody>
      </p:sp>
      <p:sp>
        <p:nvSpPr>
          <p:cNvPr id="5" name="Text 3"/>
          <p:cNvSpPr/>
          <p:nvPr/>
        </p:nvSpPr>
        <p:spPr>
          <a:xfrm>
            <a:off x="793790" y="429339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Số lần lặp:</a:t>
            </a:r>
            <a:r>
              <a:rPr lang="en-US" sz="1750" dirty="0">
                <a:solidFill>
                  <a:srgbClr val="3D3E44"/>
                </a:solidFill>
                <a:latin typeface="Inter Light" pitchFamily="34" charset="0"/>
                <a:ea typeface="Inter Light" pitchFamily="34" charset="-122"/>
                <a:cs typeface="Inter Light" pitchFamily="34" charset="-120"/>
              </a:rPr>
              <a:t> 8 lần cho mỗi thuật toán và mỗi kích thước để lấy kết quả trung bình.</a:t>
            </a:r>
            <a:endParaRPr lang="en-US" sz="1750" dirty="0"/>
          </a:p>
        </p:txBody>
      </p:sp>
      <p:sp>
        <p:nvSpPr>
          <p:cNvPr id="6" name="Text 4"/>
          <p:cNvSpPr/>
          <p:nvPr/>
        </p:nvSpPr>
        <p:spPr>
          <a:xfrm>
            <a:off x="793790" y="473559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3D3E44"/>
                </a:solidFill>
                <a:latin typeface="Inter Light" pitchFamily="34" charset="0"/>
                <a:ea typeface="Inter Light" pitchFamily="34" charset="-122"/>
                <a:cs typeface="Inter Light" pitchFamily="34" charset="-120"/>
              </a:rPr>
              <a:t>Tiêu chí đánh giá:</a:t>
            </a:r>
            <a:endParaRPr lang="en-US" sz="1750" dirty="0"/>
          </a:p>
        </p:txBody>
      </p:sp>
      <p:sp>
        <p:nvSpPr>
          <p:cNvPr id="7" name="Text 5"/>
          <p:cNvSpPr/>
          <p:nvPr/>
        </p:nvSpPr>
        <p:spPr>
          <a:xfrm>
            <a:off x="793790" y="5177790"/>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Độ dài tour (chất lượng nghiệm).</a:t>
            </a:r>
            <a:endParaRPr lang="en-US" sz="1750" dirty="0"/>
          </a:p>
        </p:txBody>
      </p:sp>
      <p:sp>
        <p:nvSpPr>
          <p:cNvPr id="8" name="Text 6"/>
          <p:cNvSpPr/>
          <p:nvPr/>
        </p:nvSpPr>
        <p:spPr>
          <a:xfrm>
            <a:off x="793790" y="5619988"/>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Thời gian chạy (hiệu năng).</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name="Slide 13">
    <p:spTree>
      <p:nvGrpSpPr>
        <p:cNvPr id="1" name=""/>
        <p:cNvGrpSpPr/>
        <p:nvPr/>
      </p:nvGrpSpPr>
      <p:grpSpPr>
        <a:xfrm>
          <a:off x="0" y="0"/>
          <a:ext cx="0" cy="0"/>
          <a:chOff x="0" y="0"/>
          <a:chExt cx="0" cy="0"/>
        </a:xfrm>
      </p:grpSpPr>
      <p:sp>
        <p:nvSpPr>
          <p:cNvPr id="2" name="Text 0"/>
          <p:cNvSpPr/>
          <p:nvPr/>
        </p:nvSpPr>
        <p:spPr>
          <a:xfrm>
            <a:off x="778669" y="611862"/>
            <a:ext cx="6272808" cy="695325"/>
          </a:xfrm>
          <a:prstGeom prst="rect">
            <a:avLst/>
          </a:prstGeom>
          <a:noFill/>
          <a:ln/>
        </p:spPr>
        <p:txBody>
          <a:bodyPr wrap="none" lIns="0" tIns="0" rIns="0" bIns="0" rtlCol="0" anchor="t"/>
          <a:lstStyle/>
          <a:p>
            <a:pPr marL="0" indent="0" algn="l">
              <a:lnSpc>
                <a:spcPts val="5450"/>
              </a:lnSpc>
              <a:buNone/>
            </a:pPr>
            <a:r>
              <a:rPr lang="en-US" sz="4350" dirty="0">
                <a:solidFill>
                  <a:srgbClr val="74767D"/>
                </a:solidFill>
                <a:latin typeface="Montserrat Medium" pitchFamily="34" charset="0"/>
                <a:ea typeface="Montserrat Medium" pitchFamily="34" charset="-122"/>
                <a:cs typeface="Montserrat Medium" pitchFamily="34" charset="-120"/>
              </a:rPr>
              <a:t>Kết Quả Thực Nghiệm</a:t>
            </a:r>
            <a:endParaRPr lang="en-US" sz="4350" dirty="0"/>
          </a:p>
        </p:txBody>
      </p:sp>
      <p:sp>
        <p:nvSpPr>
          <p:cNvPr id="3" name="Shape 1"/>
          <p:cNvSpPr/>
          <p:nvPr/>
        </p:nvSpPr>
        <p:spPr>
          <a:xfrm>
            <a:off x="618530" y="1640919"/>
            <a:ext cx="4315658" cy="4071580"/>
          </a:xfrm>
          <a:prstGeom prst="roundRect">
            <a:avLst>
              <a:gd name="adj" fmla="val 7869"/>
            </a:avLst>
          </a:prstGeom>
          <a:solidFill>
            <a:srgbClr val="E5E0DF"/>
          </a:solidFill>
          <a:ln/>
        </p:spPr>
        <p:txBody>
          <a:bodyPr/>
          <a:lstStyle/>
          <a:p>
            <a:endParaRPr lang="en-US"/>
          </a:p>
        </p:txBody>
      </p:sp>
      <p:sp>
        <p:nvSpPr>
          <p:cNvPr id="4" name="Text 2"/>
          <p:cNvSpPr/>
          <p:nvPr/>
        </p:nvSpPr>
        <p:spPr>
          <a:xfrm>
            <a:off x="840938" y="1841063"/>
            <a:ext cx="3870841" cy="355997"/>
          </a:xfrm>
          <a:prstGeom prst="rect">
            <a:avLst/>
          </a:prstGeom>
          <a:noFill/>
          <a:ln/>
        </p:spPr>
        <p:txBody>
          <a:bodyPr wrap="none" lIns="0" tIns="0" rIns="0" bIns="0" rtlCol="0" anchor="t"/>
          <a:lstStyle/>
          <a:p>
            <a:pPr marL="342900" indent="-342900" algn="l">
              <a:lnSpc>
                <a:spcPts val="2800"/>
              </a:lnSpc>
              <a:buSzPct val="100000"/>
              <a:buChar char="•"/>
            </a:pPr>
            <a:r>
              <a:rPr lang="en-US" sz="1750" b="1" dirty="0">
                <a:solidFill>
                  <a:srgbClr val="3D3E44"/>
                </a:solidFill>
                <a:latin typeface="Inter Light" pitchFamily="34" charset="0"/>
                <a:ea typeface="Inter Light" pitchFamily="34" charset="-122"/>
                <a:cs typeface="Inter Light" pitchFamily="34" charset="-120"/>
              </a:rPr>
              <a:t>Hill Climbing:</a:t>
            </a:r>
            <a:endParaRPr lang="en-US" sz="1750" dirty="0"/>
          </a:p>
        </p:txBody>
      </p:sp>
      <p:sp>
        <p:nvSpPr>
          <p:cNvPr id="5" name="Text 3"/>
          <p:cNvSpPr/>
          <p:nvPr/>
        </p:nvSpPr>
        <p:spPr>
          <a:xfrm>
            <a:off x="840938" y="2274927"/>
            <a:ext cx="3870841" cy="1067991"/>
          </a:xfrm>
          <a:prstGeom prst="rect">
            <a:avLst/>
          </a:prstGeom>
          <a:noFill/>
          <a:ln/>
        </p:spPr>
        <p:txBody>
          <a:bodyPr wrap="square" lIns="0" tIns="0" rIns="0" bIns="0" rtlCol="0" anchor="t"/>
          <a:lstStyle/>
          <a:p>
            <a:pPr marL="685800" lvl="1"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Steepest thường cho kết quả tốt hơn Stochastic nhưng tốn thời gian hơn.</a:t>
            </a:r>
            <a:endParaRPr lang="en-US" sz="1750" dirty="0"/>
          </a:p>
        </p:txBody>
      </p:sp>
      <p:sp>
        <p:nvSpPr>
          <p:cNvPr id="6" name="Text 4"/>
          <p:cNvSpPr/>
          <p:nvPr/>
        </p:nvSpPr>
        <p:spPr>
          <a:xfrm>
            <a:off x="840938" y="3420785"/>
            <a:ext cx="3870841" cy="1067991"/>
          </a:xfrm>
          <a:prstGeom prst="rect">
            <a:avLst/>
          </a:prstGeom>
          <a:noFill/>
          <a:ln/>
        </p:spPr>
        <p:txBody>
          <a:bodyPr wrap="square" lIns="0" tIns="0" rIns="0" bIns="0" rtlCol="0" anchor="t"/>
          <a:lstStyle/>
          <a:p>
            <a:pPr marL="685800" lvl="1"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Random Restart cải thiện đáng kể chất lượng nghiệm do thoát khỏi cực trị địa phương.</a:t>
            </a:r>
            <a:endParaRPr lang="en-US" sz="1750" dirty="0"/>
          </a:p>
        </p:txBody>
      </p:sp>
      <p:sp>
        <p:nvSpPr>
          <p:cNvPr id="7" name="Shape 5"/>
          <p:cNvSpPr/>
          <p:nvPr/>
        </p:nvSpPr>
        <p:spPr>
          <a:xfrm>
            <a:off x="5164217" y="1640919"/>
            <a:ext cx="4316968" cy="4071580"/>
          </a:xfrm>
          <a:prstGeom prst="roundRect">
            <a:avLst>
              <a:gd name="adj" fmla="val 7869"/>
            </a:avLst>
          </a:prstGeom>
          <a:solidFill>
            <a:srgbClr val="E5E0DF"/>
          </a:solidFill>
          <a:ln/>
        </p:spPr>
        <p:txBody>
          <a:bodyPr/>
          <a:lstStyle/>
          <a:p>
            <a:endParaRPr lang="en-US"/>
          </a:p>
        </p:txBody>
      </p:sp>
      <p:sp>
        <p:nvSpPr>
          <p:cNvPr id="8" name="Text 6"/>
          <p:cNvSpPr/>
          <p:nvPr/>
        </p:nvSpPr>
        <p:spPr>
          <a:xfrm>
            <a:off x="5386626" y="1841063"/>
            <a:ext cx="3872151" cy="355997"/>
          </a:xfrm>
          <a:prstGeom prst="rect">
            <a:avLst/>
          </a:prstGeom>
          <a:noFill/>
          <a:ln/>
        </p:spPr>
        <p:txBody>
          <a:bodyPr wrap="none" lIns="0" tIns="0" rIns="0" bIns="0" rtlCol="0" anchor="t"/>
          <a:lstStyle/>
          <a:p>
            <a:pPr marL="342900" indent="-342900" algn="l">
              <a:lnSpc>
                <a:spcPts val="2800"/>
              </a:lnSpc>
              <a:buSzPct val="100000"/>
              <a:buChar char="•"/>
            </a:pPr>
            <a:r>
              <a:rPr lang="en-US" sz="1750" b="1" dirty="0">
                <a:solidFill>
                  <a:srgbClr val="3D3E44"/>
                </a:solidFill>
                <a:latin typeface="Inter Light" pitchFamily="34" charset="0"/>
                <a:ea typeface="Inter Light" pitchFamily="34" charset="-122"/>
                <a:cs typeface="Inter Light" pitchFamily="34" charset="-120"/>
              </a:rPr>
              <a:t>Simulated Annealing:</a:t>
            </a:r>
            <a:endParaRPr lang="en-US" sz="1750" dirty="0"/>
          </a:p>
        </p:txBody>
      </p:sp>
      <p:sp>
        <p:nvSpPr>
          <p:cNvPr id="9" name="Text 7"/>
          <p:cNvSpPr/>
          <p:nvPr/>
        </p:nvSpPr>
        <p:spPr>
          <a:xfrm>
            <a:off x="5386626" y="2274927"/>
            <a:ext cx="3872151" cy="1067991"/>
          </a:xfrm>
          <a:prstGeom prst="rect">
            <a:avLst/>
          </a:prstGeom>
          <a:noFill/>
          <a:ln/>
        </p:spPr>
        <p:txBody>
          <a:bodyPr wrap="square" lIns="0" tIns="0" rIns="0" bIns="0" rtlCol="0" anchor="t"/>
          <a:lstStyle/>
          <a:p>
            <a:pPr marL="685800" lvl="1"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Cho nghiệm tốt hơn Hill Climbing trong nhiều trường hợp.</a:t>
            </a:r>
            <a:endParaRPr lang="en-US" sz="1750" dirty="0"/>
          </a:p>
        </p:txBody>
      </p:sp>
      <p:sp>
        <p:nvSpPr>
          <p:cNvPr id="10" name="Text 8"/>
          <p:cNvSpPr/>
          <p:nvPr/>
        </p:nvSpPr>
        <p:spPr>
          <a:xfrm>
            <a:off x="5386626" y="3420785"/>
            <a:ext cx="3872151" cy="1423988"/>
          </a:xfrm>
          <a:prstGeom prst="rect">
            <a:avLst/>
          </a:prstGeom>
          <a:noFill/>
          <a:ln/>
        </p:spPr>
        <p:txBody>
          <a:bodyPr wrap="square" lIns="0" tIns="0" rIns="0" bIns="0" rtlCol="0" anchor="t"/>
          <a:lstStyle/>
          <a:p>
            <a:pPr marL="685800" lvl="1"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Phương pháp </a:t>
            </a:r>
            <a:r>
              <a:rPr lang="en-US" sz="1750" b="1" dirty="0">
                <a:solidFill>
                  <a:srgbClr val="3D3E44"/>
                </a:solidFill>
                <a:latin typeface="Inter Light" pitchFamily="34" charset="0"/>
                <a:ea typeface="Inter Light" pitchFamily="34" charset="-122"/>
                <a:cs typeface="Inter Light" pitchFamily="34" charset="-120"/>
              </a:rPr>
              <a:t>reverse move</a:t>
            </a:r>
            <a:r>
              <a:rPr lang="en-US" sz="1750" dirty="0">
                <a:solidFill>
                  <a:srgbClr val="3D3E44"/>
                </a:solidFill>
                <a:latin typeface="Inter Light" pitchFamily="34" charset="0"/>
                <a:ea typeface="Inter Light" pitchFamily="34" charset="-122"/>
                <a:cs typeface="Inter Light" pitchFamily="34" charset="-120"/>
              </a:rPr>
              <a:t> thường hiệu quả hơn </a:t>
            </a:r>
            <a:r>
              <a:rPr lang="en-US" sz="1750" b="1" dirty="0">
                <a:solidFill>
                  <a:srgbClr val="3D3E44"/>
                </a:solidFill>
                <a:latin typeface="Inter Light" pitchFamily="34" charset="0"/>
                <a:ea typeface="Inter Light" pitchFamily="34" charset="-122"/>
                <a:cs typeface="Inter Light" pitchFamily="34" charset="-120"/>
              </a:rPr>
              <a:t>swap move</a:t>
            </a:r>
            <a:r>
              <a:rPr lang="en-US" sz="1750" dirty="0">
                <a:solidFill>
                  <a:srgbClr val="3D3E44"/>
                </a:solidFill>
                <a:latin typeface="Inter Light" pitchFamily="34" charset="0"/>
                <a:ea typeface="Inter Light" pitchFamily="34" charset="-122"/>
                <a:cs typeface="Inter Light" pitchFamily="34" charset="-120"/>
              </a:rPr>
              <a:t> nhờ thay đổi cấu trúc tour nhiều hơn.</a:t>
            </a:r>
            <a:endParaRPr lang="en-US" sz="1750" dirty="0"/>
          </a:p>
        </p:txBody>
      </p:sp>
      <p:sp>
        <p:nvSpPr>
          <p:cNvPr id="11" name="Text 9"/>
          <p:cNvSpPr/>
          <p:nvPr/>
        </p:nvSpPr>
        <p:spPr>
          <a:xfrm>
            <a:off x="5386626" y="4922639"/>
            <a:ext cx="3872151" cy="711994"/>
          </a:xfrm>
          <a:prstGeom prst="rect">
            <a:avLst/>
          </a:prstGeom>
          <a:noFill/>
          <a:ln/>
        </p:spPr>
        <p:txBody>
          <a:bodyPr wrap="square" lIns="0" tIns="0" rIns="0" bIns="0" rtlCol="0" anchor="t"/>
          <a:lstStyle/>
          <a:p>
            <a:pPr marL="685800" lvl="1"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Tuy nhiên, SA tốn nhiều thời gian hơn so với Hill Climbing.</a:t>
            </a:r>
            <a:endParaRPr lang="en-US" sz="1750" dirty="0"/>
          </a:p>
        </p:txBody>
      </p:sp>
      <p:sp>
        <p:nvSpPr>
          <p:cNvPr id="12" name="Shape 10"/>
          <p:cNvSpPr/>
          <p:nvPr/>
        </p:nvSpPr>
        <p:spPr>
          <a:xfrm>
            <a:off x="9711214" y="1640919"/>
            <a:ext cx="4315658" cy="4071580"/>
          </a:xfrm>
          <a:prstGeom prst="roundRect">
            <a:avLst>
              <a:gd name="adj" fmla="val 7869"/>
            </a:avLst>
          </a:prstGeom>
          <a:solidFill>
            <a:srgbClr val="E5E0DF"/>
          </a:solidFill>
          <a:ln/>
        </p:spPr>
        <p:txBody>
          <a:bodyPr/>
          <a:lstStyle/>
          <a:p>
            <a:endParaRPr lang="en-US"/>
          </a:p>
        </p:txBody>
      </p:sp>
      <p:sp>
        <p:nvSpPr>
          <p:cNvPr id="13" name="Text 11"/>
          <p:cNvSpPr/>
          <p:nvPr/>
        </p:nvSpPr>
        <p:spPr>
          <a:xfrm>
            <a:off x="9933623" y="1841063"/>
            <a:ext cx="3870841" cy="355997"/>
          </a:xfrm>
          <a:prstGeom prst="rect">
            <a:avLst/>
          </a:prstGeom>
          <a:noFill/>
          <a:ln/>
        </p:spPr>
        <p:txBody>
          <a:bodyPr wrap="none" lIns="0" tIns="0" rIns="0" bIns="0" rtlCol="0" anchor="t"/>
          <a:lstStyle/>
          <a:p>
            <a:pPr marL="342900" indent="-342900" algn="l">
              <a:lnSpc>
                <a:spcPts val="2800"/>
              </a:lnSpc>
              <a:buSzPct val="100000"/>
              <a:buChar char="•"/>
            </a:pPr>
            <a:r>
              <a:rPr lang="en-US" sz="1750" b="1" dirty="0">
                <a:solidFill>
                  <a:srgbClr val="3D3E44"/>
                </a:solidFill>
                <a:latin typeface="Inter Light" pitchFamily="34" charset="0"/>
                <a:ea typeface="Inter Light" pitchFamily="34" charset="-122"/>
                <a:cs typeface="Inter Light" pitchFamily="34" charset="-120"/>
              </a:rPr>
              <a:t>Genetic Algorithm:</a:t>
            </a:r>
            <a:endParaRPr lang="en-US" sz="1750" dirty="0"/>
          </a:p>
        </p:txBody>
      </p:sp>
      <p:sp>
        <p:nvSpPr>
          <p:cNvPr id="14" name="Text 12"/>
          <p:cNvSpPr/>
          <p:nvPr/>
        </p:nvSpPr>
        <p:spPr>
          <a:xfrm>
            <a:off x="9933623" y="2274927"/>
            <a:ext cx="3870841" cy="711994"/>
          </a:xfrm>
          <a:prstGeom prst="rect">
            <a:avLst/>
          </a:prstGeom>
          <a:noFill/>
          <a:ln/>
        </p:spPr>
        <p:txBody>
          <a:bodyPr wrap="square" lIns="0" tIns="0" rIns="0" bIns="0" rtlCol="0" anchor="t"/>
          <a:lstStyle/>
          <a:p>
            <a:pPr marL="685800" lvl="1"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Hiệu quả tốt trên các bài toán lớn hơn (n = 15, 20).</a:t>
            </a:r>
            <a:endParaRPr lang="en-US" sz="1750" dirty="0"/>
          </a:p>
        </p:txBody>
      </p:sp>
      <p:sp>
        <p:nvSpPr>
          <p:cNvPr id="15" name="Text 13"/>
          <p:cNvSpPr/>
          <p:nvPr/>
        </p:nvSpPr>
        <p:spPr>
          <a:xfrm>
            <a:off x="9933623" y="3064788"/>
            <a:ext cx="3870841" cy="1067991"/>
          </a:xfrm>
          <a:prstGeom prst="rect">
            <a:avLst/>
          </a:prstGeom>
          <a:noFill/>
          <a:ln/>
        </p:spPr>
        <p:txBody>
          <a:bodyPr wrap="square" lIns="0" tIns="0" rIns="0" bIns="0" rtlCol="0" anchor="t"/>
          <a:lstStyle/>
          <a:p>
            <a:pPr marL="685800" lvl="1"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Khả năng tìm nghiệm tốt phụ thuộc vào kích thước quần thể và số thế hệ.</a:t>
            </a:r>
            <a:endParaRPr lang="en-US" sz="1750" dirty="0"/>
          </a:p>
        </p:txBody>
      </p:sp>
      <p:sp>
        <p:nvSpPr>
          <p:cNvPr id="16" name="Text 14"/>
          <p:cNvSpPr/>
          <p:nvPr/>
        </p:nvSpPr>
        <p:spPr>
          <a:xfrm>
            <a:off x="9933623" y="4210645"/>
            <a:ext cx="3870841" cy="1067991"/>
          </a:xfrm>
          <a:prstGeom prst="rect">
            <a:avLst/>
          </a:prstGeom>
          <a:noFill/>
          <a:ln/>
        </p:spPr>
        <p:txBody>
          <a:bodyPr wrap="square" lIns="0" tIns="0" rIns="0" bIns="0" rtlCol="0" anchor="t"/>
          <a:lstStyle/>
          <a:p>
            <a:pPr marL="685800" lvl="1"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Có độ ổn định cao hơn SA do khai thác song song nhiều cá thể.</a:t>
            </a:r>
            <a:endParaRPr lang="en-US" sz="1750" dirty="0"/>
          </a:p>
        </p:txBody>
      </p:sp>
      <p:sp>
        <p:nvSpPr>
          <p:cNvPr id="17" name="Text 15"/>
          <p:cNvSpPr/>
          <p:nvPr/>
        </p:nvSpPr>
        <p:spPr>
          <a:xfrm>
            <a:off x="778669" y="5962769"/>
            <a:ext cx="13073063" cy="355997"/>
          </a:xfrm>
          <a:prstGeom prst="rect">
            <a:avLst/>
          </a:prstGeom>
          <a:noFill/>
          <a:ln/>
        </p:spPr>
        <p:txBody>
          <a:bodyPr wrap="none" lIns="0" tIns="0" rIns="0" bIns="0" rtlCol="0" anchor="t"/>
          <a:lstStyle/>
          <a:p>
            <a:pPr marL="342900"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Các thuật toán heuristic và metaheuristic đều giúp giải TSP với nghiệm gần tối ưu trong thời gian hợp lý.</a:t>
            </a:r>
            <a:endParaRPr lang="en-US" sz="1750" dirty="0"/>
          </a:p>
        </p:txBody>
      </p:sp>
      <p:sp>
        <p:nvSpPr>
          <p:cNvPr id="18" name="Text 16"/>
          <p:cNvSpPr/>
          <p:nvPr/>
        </p:nvSpPr>
        <p:spPr>
          <a:xfrm>
            <a:off x="778669" y="6396633"/>
            <a:ext cx="13073063" cy="355997"/>
          </a:xfrm>
          <a:prstGeom prst="rect">
            <a:avLst/>
          </a:prstGeom>
          <a:noFill/>
          <a:ln/>
        </p:spPr>
        <p:txBody>
          <a:bodyPr wrap="none" lIns="0" tIns="0" rIns="0" bIns="0" rtlCol="0" anchor="t"/>
          <a:lstStyle/>
          <a:p>
            <a:pPr marL="342900"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Hill Climbing đơn giản, chạy nhanh nhưng dễ rơi vào cực trị địa phương.</a:t>
            </a:r>
            <a:endParaRPr lang="en-US" sz="1750" dirty="0"/>
          </a:p>
        </p:txBody>
      </p:sp>
      <p:sp>
        <p:nvSpPr>
          <p:cNvPr id="19" name="Text 17"/>
          <p:cNvSpPr/>
          <p:nvPr/>
        </p:nvSpPr>
        <p:spPr>
          <a:xfrm>
            <a:off x="778669" y="6830497"/>
            <a:ext cx="13073063" cy="355997"/>
          </a:xfrm>
          <a:prstGeom prst="rect">
            <a:avLst/>
          </a:prstGeom>
          <a:noFill/>
          <a:ln/>
        </p:spPr>
        <p:txBody>
          <a:bodyPr wrap="none" lIns="0" tIns="0" rIns="0" bIns="0" rtlCol="0" anchor="t"/>
          <a:lstStyle/>
          <a:p>
            <a:pPr marL="342900"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Simulated Annealing và Genetic Algorithm cho nghiệm chất lượng hơn, nhưng đánh đổi bằng thời gian tính toán.</a:t>
            </a:r>
            <a:endParaRPr lang="en-US" sz="1750" dirty="0"/>
          </a:p>
        </p:txBody>
      </p:sp>
      <p:sp>
        <p:nvSpPr>
          <p:cNvPr id="20" name="Text 18"/>
          <p:cNvSpPr/>
          <p:nvPr/>
        </p:nvSpPr>
        <p:spPr>
          <a:xfrm>
            <a:off x="778669" y="7264360"/>
            <a:ext cx="13073063" cy="355997"/>
          </a:xfrm>
          <a:prstGeom prst="rect">
            <a:avLst/>
          </a:prstGeom>
          <a:noFill/>
          <a:ln/>
        </p:spPr>
        <p:txBody>
          <a:bodyPr wrap="none" lIns="0" tIns="0" rIns="0" bIns="0" rtlCol="0" anchor="t"/>
          <a:lstStyle/>
          <a:p>
            <a:pPr marL="342900" indent="-342900" algn="l">
              <a:lnSpc>
                <a:spcPts val="2800"/>
              </a:lnSpc>
              <a:buSzPct val="100000"/>
              <a:buChar char="•"/>
            </a:pPr>
            <a:r>
              <a:rPr lang="en-US" sz="1750" dirty="0">
                <a:solidFill>
                  <a:srgbClr val="3D3E44"/>
                </a:solidFill>
                <a:latin typeface="Inter Light" pitchFamily="34" charset="0"/>
                <a:ea typeface="Inter Light" pitchFamily="34" charset="-122"/>
                <a:cs typeface="Inter Light" pitchFamily="34" charset="-120"/>
              </a:rPr>
              <a:t>Trong phạm vi thực nghiệm nhỏ, GA thường cho kết quả tốt nhất, đặc biệt khi số thành phố tăng.</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41233"/>
          </a:xfrm>
          <a:prstGeom prst="rect">
            <a:avLst/>
          </a:prstGeom>
        </p:spPr>
      </p:pic>
      <p:sp>
        <p:nvSpPr>
          <p:cNvPr id="3" name="Text 0"/>
          <p:cNvSpPr/>
          <p:nvPr/>
        </p:nvSpPr>
        <p:spPr>
          <a:xfrm>
            <a:off x="627459" y="2734270"/>
            <a:ext cx="6945511" cy="560308"/>
          </a:xfrm>
          <a:prstGeom prst="rect">
            <a:avLst/>
          </a:prstGeom>
          <a:noFill/>
          <a:ln/>
        </p:spPr>
        <p:txBody>
          <a:bodyPr wrap="none" lIns="0" tIns="0" rIns="0" bIns="0" rtlCol="0" anchor="t"/>
          <a:lstStyle/>
          <a:p>
            <a:pPr marL="0" indent="0" algn="l">
              <a:lnSpc>
                <a:spcPts val="4400"/>
              </a:lnSpc>
              <a:buNone/>
            </a:pPr>
            <a:r>
              <a:rPr lang="en-US" sz="3500" dirty="0">
                <a:solidFill>
                  <a:srgbClr val="74767D"/>
                </a:solidFill>
                <a:latin typeface="Montserrat Medium" pitchFamily="34" charset="0"/>
                <a:ea typeface="Montserrat Medium" pitchFamily="34" charset="-122"/>
                <a:cs typeface="Montserrat Medium" pitchFamily="34" charset="-120"/>
              </a:rPr>
              <a:t>Chương III: Bài Toán N-Queens</a:t>
            </a:r>
            <a:endParaRPr lang="en-US" sz="3500" dirty="0"/>
          </a:p>
        </p:txBody>
      </p:sp>
      <p:sp>
        <p:nvSpPr>
          <p:cNvPr id="4" name="Text 1"/>
          <p:cNvSpPr/>
          <p:nvPr/>
        </p:nvSpPr>
        <p:spPr>
          <a:xfrm>
            <a:off x="627459" y="3563422"/>
            <a:ext cx="13375481" cy="286822"/>
          </a:xfrm>
          <a:prstGeom prst="rect">
            <a:avLst/>
          </a:prstGeom>
          <a:noFill/>
          <a:ln/>
        </p:spPr>
        <p:txBody>
          <a:bodyPr wrap="none" lIns="0" tIns="0" rIns="0" bIns="0" rtlCol="0" anchor="t"/>
          <a:lstStyle/>
          <a:p>
            <a:pPr marL="0" indent="0" algn="l">
              <a:lnSpc>
                <a:spcPts val="2250"/>
              </a:lnSpc>
              <a:buNone/>
            </a:pPr>
            <a:r>
              <a:rPr lang="en-US" sz="1400" dirty="0">
                <a:solidFill>
                  <a:srgbClr val="3D3E44"/>
                </a:solidFill>
                <a:latin typeface="Inter Light" pitchFamily="34" charset="0"/>
                <a:ea typeface="Inter Light" pitchFamily="34" charset="-122"/>
                <a:cs typeface="Inter Light" pitchFamily="34" charset="-120"/>
              </a:rPr>
              <a:t>Mục tiêu: Sắp xếp N quân hậu trên bàn cờ N×N sao cho không quân nào tấn công nhau. Bài toán NP-hard.</a:t>
            </a:r>
            <a:endParaRPr lang="en-US" sz="1400" dirty="0"/>
          </a:p>
        </p:txBody>
      </p:sp>
      <p:sp>
        <p:nvSpPr>
          <p:cNvPr id="5" name="Text 2"/>
          <p:cNvSpPr/>
          <p:nvPr/>
        </p:nvSpPr>
        <p:spPr>
          <a:xfrm>
            <a:off x="627459" y="4119086"/>
            <a:ext cx="4530328" cy="448270"/>
          </a:xfrm>
          <a:prstGeom prst="rect">
            <a:avLst/>
          </a:prstGeom>
          <a:noFill/>
          <a:ln/>
        </p:spPr>
        <p:txBody>
          <a:bodyPr wrap="none" lIns="0" tIns="0" rIns="0" bIns="0" rtlCol="0" anchor="t"/>
          <a:lstStyle/>
          <a:p>
            <a:pPr marL="0" indent="0" algn="l">
              <a:lnSpc>
                <a:spcPts val="3500"/>
              </a:lnSpc>
              <a:buNone/>
            </a:pPr>
            <a:r>
              <a:rPr lang="en-US" sz="2800" dirty="0">
                <a:solidFill>
                  <a:srgbClr val="74767D"/>
                </a:solidFill>
                <a:latin typeface="Montserrat Medium" pitchFamily="34" charset="0"/>
                <a:ea typeface="Montserrat Medium" pitchFamily="34" charset="-122"/>
                <a:cs typeface="Montserrat Medium" pitchFamily="34" charset="-120"/>
              </a:rPr>
              <a:t>Các Thuật Toán Áp Dụng</a:t>
            </a:r>
            <a:endParaRPr lang="en-US" sz="2800" dirty="0"/>
          </a:p>
        </p:txBody>
      </p:sp>
      <p:sp>
        <p:nvSpPr>
          <p:cNvPr id="6" name="Shape 3"/>
          <p:cNvSpPr/>
          <p:nvPr/>
        </p:nvSpPr>
        <p:spPr>
          <a:xfrm>
            <a:off x="627459" y="4836200"/>
            <a:ext cx="6598087" cy="1365290"/>
          </a:xfrm>
          <a:prstGeom prst="roundRect">
            <a:avLst>
              <a:gd name="adj" fmla="val 11819"/>
            </a:avLst>
          </a:prstGeom>
          <a:solidFill>
            <a:srgbClr val="FFFFFF"/>
          </a:solidFill>
          <a:ln w="22860">
            <a:solidFill>
              <a:srgbClr val="C5C7D2"/>
            </a:solidFill>
            <a:prstDash val="solid"/>
          </a:ln>
        </p:spPr>
        <p:txBody>
          <a:bodyPr/>
          <a:lstStyle/>
          <a:p>
            <a:endParaRPr lang="en-US"/>
          </a:p>
        </p:txBody>
      </p:sp>
      <p:sp>
        <p:nvSpPr>
          <p:cNvPr id="7" name="Text 4"/>
          <p:cNvSpPr/>
          <p:nvPr/>
        </p:nvSpPr>
        <p:spPr>
          <a:xfrm>
            <a:off x="829508" y="5038249"/>
            <a:ext cx="2262545" cy="280035"/>
          </a:xfrm>
          <a:prstGeom prst="rect">
            <a:avLst/>
          </a:prstGeom>
          <a:noFill/>
          <a:ln/>
        </p:spPr>
        <p:txBody>
          <a:bodyPr wrap="none" lIns="0" tIns="0" rIns="0" bIns="0" rtlCol="0" anchor="t"/>
          <a:lstStyle/>
          <a:p>
            <a:pPr marL="0" indent="0" algn="l">
              <a:lnSpc>
                <a:spcPts val="2200"/>
              </a:lnSpc>
              <a:buNone/>
            </a:pPr>
            <a:r>
              <a:rPr lang="en-US" sz="1750" dirty="0">
                <a:solidFill>
                  <a:srgbClr val="3D3E44"/>
                </a:solidFill>
                <a:latin typeface="Montserrat Medium" pitchFamily="34" charset="0"/>
                <a:ea typeface="Montserrat Medium" pitchFamily="34" charset="-122"/>
                <a:cs typeface="Montserrat Medium" pitchFamily="34" charset="-120"/>
              </a:rPr>
              <a:t>Steepest-Ascent HC</a:t>
            </a:r>
            <a:endParaRPr lang="en-US" sz="1750" dirty="0"/>
          </a:p>
        </p:txBody>
      </p:sp>
      <p:sp>
        <p:nvSpPr>
          <p:cNvPr id="8" name="Text 5"/>
          <p:cNvSpPr/>
          <p:nvPr/>
        </p:nvSpPr>
        <p:spPr>
          <a:xfrm>
            <a:off x="829508" y="5425797"/>
            <a:ext cx="6193988" cy="286822"/>
          </a:xfrm>
          <a:prstGeom prst="rect">
            <a:avLst/>
          </a:prstGeom>
          <a:noFill/>
          <a:ln/>
        </p:spPr>
        <p:txBody>
          <a:bodyPr wrap="none" lIns="0" tIns="0" rIns="0" bIns="0" rtlCol="0" anchor="t"/>
          <a:lstStyle/>
          <a:p>
            <a:pPr marL="0" indent="0" algn="l">
              <a:lnSpc>
                <a:spcPts val="2250"/>
              </a:lnSpc>
              <a:buNone/>
            </a:pPr>
            <a:r>
              <a:rPr lang="en-US" sz="1400" dirty="0">
                <a:solidFill>
                  <a:srgbClr val="3D3E44"/>
                </a:solidFill>
                <a:latin typeface="Inter Light" pitchFamily="34" charset="0"/>
                <a:ea typeface="Inter Light" pitchFamily="34" charset="-122"/>
                <a:cs typeface="Inter Light" pitchFamily="34" charset="-120"/>
              </a:rPr>
              <a:t>Chọn nước đi giảm xung đột nhiều nhất.</a:t>
            </a:r>
            <a:endParaRPr lang="en-US" sz="1400" dirty="0"/>
          </a:p>
        </p:txBody>
      </p:sp>
      <p:sp>
        <p:nvSpPr>
          <p:cNvPr id="9" name="Shape 6"/>
          <p:cNvSpPr/>
          <p:nvPr/>
        </p:nvSpPr>
        <p:spPr>
          <a:xfrm>
            <a:off x="7404735" y="4836200"/>
            <a:ext cx="6598206" cy="1365290"/>
          </a:xfrm>
          <a:prstGeom prst="roundRect">
            <a:avLst>
              <a:gd name="adj" fmla="val 11819"/>
            </a:avLst>
          </a:prstGeom>
          <a:solidFill>
            <a:srgbClr val="FFFFFF"/>
          </a:solidFill>
          <a:ln w="22860">
            <a:solidFill>
              <a:srgbClr val="C5C7D2"/>
            </a:solidFill>
            <a:prstDash val="solid"/>
          </a:ln>
        </p:spPr>
        <p:txBody>
          <a:bodyPr/>
          <a:lstStyle/>
          <a:p>
            <a:endParaRPr lang="en-US"/>
          </a:p>
        </p:txBody>
      </p:sp>
      <p:sp>
        <p:nvSpPr>
          <p:cNvPr id="10" name="Text 7"/>
          <p:cNvSpPr/>
          <p:nvPr/>
        </p:nvSpPr>
        <p:spPr>
          <a:xfrm>
            <a:off x="7606784" y="5038249"/>
            <a:ext cx="2984540" cy="280035"/>
          </a:xfrm>
          <a:prstGeom prst="rect">
            <a:avLst/>
          </a:prstGeom>
          <a:noFill/>
          <a:ln/>
        </p:spPr>
        <p:txBody>
          <a:bodyPr wrap="none" lIns="0" tIns="0" rIns="0" bIns="0" rtlCol="0" anchor="t"/>
          <a:lstStyle/>
          <a:p>
            <a:pPr marL="0" indent="0" algn="l">
              <a:lnSpc>
                <a:spcPts val="2200"/>
              </a:lnSpc>
              <a:buNone/>
            </a:pPr>
            <a:r>
              <a:rPr lang="en-US" sz="1750" dirty="0">
                <a:solidFill>
                  <a:srgbClr val="3D3E44"/>
                </a:solidFill>
                <a:latin typeface="Montserrat Medium" pitchFamily="34" charset="0"/>
                <a:ea typeface="Montserrat Medium" pitchFamily="34" charset="-122"/>
                <a:cs typeface="Montserrat Medium" pitchFamily="34" charset="-120"/>
              </a:rPr>
              <a:t>Stochastic HC (2 Biến Thể)</a:t>
            </a:r>
            <a:endParaRPr lang="en-US" sz="1750" dirty="0"/>
          </a:p>
        </p:txBody>
      </p:sp>
      <p:sp>
        <p:nvSpPr>
          <p:cNvPr id="11" name="Text 8"/>
          <p:cNvSpPr/>
          <p:nvPr/>
        </p:nvSpPr>
        <p:spPr>
          <a:xfrm>
            <a:off x="7606784" y="5425797"/>
            <a:ext cx="6194108" cy="573643"/>
          </a:xfrm>
          <a:prstGeom prst="rect">
            <a:avLst/>
          </a:prstGeom>
          <a:noFill/>
          <a:ln/>
        </p:spPr>
        <p:txBody>
          <a:bodyPr wrap="square" lIns="0" tIns="0" rIns="0" bIns="0" rtlCol="0" anchor="t"/>
          <a:lstStyle/>
          <a:p>
            <a:pPr marL="0" indent="0" algn="l">
              <a:lnSpc>
                <a:spcPts val="2250"/>
              </a:lnSpc>
              <a:buNone/>
            </a:pPr>
            <a:r>
              <a:rPr lang="en-US" sz="1400" dirty="0">
                <a:solidFill>
                  <a:srgbClr val="3D3E44"/>
                </a:solidFill>
                <a:latin typeface="Inter Light" pitchFamily="34" charset="0"/>
                <a:ea typeface="Inter Light" pitchFamily="34" charset="-122"/>
                <a:cs typeface="Inter Light" pitchFamily="34" charset="-120"/>
              </a:rPr>
              <a:t>Chọn ngẫu nhiên lân cận tốt hơn (HC1) hoặc chấp nhận lân cận ngẫu nhiên đầu tiên tốt hơn (HC2).</a:t>
            </a:r>
            <a:endParaRPr lang="en-US" sz="1400" dirty="0"/>
          </a:p>
        </p:txBody>
      </p:sp>
      <p:sp>
        <p:nvSpPr>
          <p:cNvPr id="12" name="Shape 9"/>
          <p:cNvSpPr/>
          <p:nvPr/>
        </p:nvSpPr>
        <p:spPr>
          <a:xfrm>
            <a:off x="627459" y="6380678"/>
            <a:ext cx="6598087" cy="1365290"/>
          </a:xfrm>
          <a:prstGeom prst="roundRect">
            <a:avLst>
              <a:gd name="adj" fmla="val 11819"/>
            </a:avLst>
          </a:prstGeom>
          <a:solidFill>
            <a:srgbClr val="FFFFFF"/>
          </a:solidFill>
          <a:ln w="22860">
            <a:solidFill>
              <a:srgbClr val="C5C7D2"/>
            </a:solidFill>
            <a:prstDash val="solid"/>
          </a:ln>
        </p:spPr>
        <p:txBody>
          <a:bodyPr/>
          <a:lstStyle/>
          <a:p>
            <a:endParaRPr lang="en-US"/>
          </a:p>
        </p:txBody>
      </p:sp>
      <p:sp>
        <p:nvSpPr>
          <p:cNvPr id="13" name="Text 10"/>
          <p:cNvSpPr/>
          <p:nvPr/>
        </p:nvSpPr>
        <p:spPr>
          <a:xfrm>
            <a:off x="829508" y="6582728"/>
            <a:ext cx="2946440" cy="280035"/>
          </a:xfrm>
          <a:prstGeom prst="rect">
            <a:avLst/>
          </a:prstGeom>
          <a:noFill/>
          <a:ln/>
        </p:spPr>
        <p:txBody>
          <a:bodyPr wrap="none" lIns="0" tIns="0" rIns="0" bIns="0" rtlCol="0" anchor="t"/>
          <a:lstStyle/>
          <a:p>
            <a:pPr marL="0" indent="0" algn="l">
              <a:lnSpc>
                <a:spcPts val="2200"/>
              </a:lnSpc>
              <a:buNone/>
            </a:pPr>
            <a:r>
              <a:rPr lang="en-US" sz="1750" dirty="0">
                <a:solidFill>
                  <a:srgbClr val="3D3E44"/>
                </a:solidFill>
                <a:latin typeface="Montserrat Medium" pitchFamily="34" charset="0"/>
                <a:ea typeface="Montserrat Medium" pitchFamily="34" charset="-122"/>
                <a:cs typeface="Montserrat Medium" pitchFamily="34" charset="-120"/>
              </a:rPr>
              <a:t>HC with Random Restarts</a:t>
            </a:r>
            <a:endParaRPr lang="en-US" sz="1750" dirty="0"/>
          </a:p>
        </p:txBody>
      </p:sp>
      <p:sp>
        <p:nvSpPr>
          <p:cNvPr id="14" name="Text 11"/>
          <p:cNvSpPr/>
          <p:nvPr/>
        </p:nvSpPr>
        <p:spPr>
          <a:xfrm>
            <a:off x="829508" y="6970276"/>
            <a:ext cx="6193988" cy="573643"/>
          </a:xfrm>
          <a:prstGeom prst="rect">
            <a:avLst/>
          </a:prstGeom>
          <a:noFill/>
          <a:ln/>
        </p:spPr>
        <p:txBody>
          <a:bodyPr wrap="square" lIns="0" tIns="0" rIns="0" bIns="0" rtlCol="0" anchor="t"/>
          <a:lstStyle/>
          <a:p>
            <a:pPr marL="0" indent="0" algn="l">
              <a:lnSpc>
                <a:spcPts val="2250"/>
              </a:lnSpc>
              <a:buNone/>
            </a:pPr>
            <a:r>
              <a:rPr lang="en-US" sz="1400" dirty="0">
                <a:solidFill>
                  <a:srgbClr val="3D3E44"/>
                </a:solidFill>
                <a:latin typeface="Inter Light" pitchFamily="34" charset="0"/>
                <a:ea typeface="Inter Light" pitchFamily="34" charset="-122"/>
                <a:cs typeface="Inter Light" pitchFamily="34" charset="-120"/>
              </a:rPr>
              <a:t>Chạy lại nhiều lần từ trạng thái ngẫu nhiên để tăng xác suất tìm nghiệm tối ưu.</a:t>
            </a:r>
            <a:endParaRPr lang="en-US" sz="1400" dirty="0"/>
          </a:p>
        </p:txBody>
      </p:sp>
      <p:sp>
        <p:nvSpPr>
          <p:cNvPr id="15" name="Shape 12"/>
          <p:cNvSpPr/>
          <p:nvPr/>
        </p:nvSpPr>
        <p:spPr>
          <a:xfrm>
            <a:off x="7404735" y="6380678"/>
            <a:ext cx="6598206" cy="1365290"/>
          </a:xfrm>
          <a:prstGeom prst="roundRect">
            <a:avLst>
              <a:gd name="adj" fmla="val 11819"/>
            </a:avLst>
          </a:prstGeom>
          <a:solidFill>
            <a:srgbClr val="FFFFFF"/>
          </a:solidFill>
          <a:ln w="22860">
            <a:solidFill>
              <a:srgbClr val="C5C7D2"/>
            </a:solidFill>
            <a:prstDash val="solid"/>
          </a:ln>
        </p:spPr>
        <p:txBody>
          <a:bodyPr/>
          <a:lstStyle/>
          <a:p>
            <a:endParaRPr lang="en-US"/>
          </a:p>
        </p:txBody>
      </p:sp>
      <p:sp>
        <p:nvSpPr>
          <p:cNvPr id="16" name="Text 13"/>
          <p:cNvSpPr/>
          <p:nvPr/>
        </p:nvSpPr>
        <p:spPr>
          <a:xfrm>
            <a:off x="7606784" y="6582728"/>
            <a:ext cx="2394942" cy="280035"/>
          </a:xfrm>
          <a:prstGeom prst="rect">
            <a:avLst/>
          </a:prstGeom>
          <a:noFill/>
          <a:ln/>
        </p:spPr>
        <p:txBody>
          <a:bodyPr wrap="none" lIns="0" tIns="0" rIns="0" bIns="0" rtlCol="0" anchor="t"/>
          <a:lstStyle/>
          <a:p>
            <a:pPr marL="0" indent="0" algn="l">
              <a:lnSpc>
                <a:spcPts val="2200"/>
              </a:lnSpc>
              <a:buNone/>
            </a:pPr>
            <a:r>
              <a:rPr lang="en-US" sz="1750" dirty="0">
                <a:solidFill>
                  <a:srgbClr val="3D3E44"/>
                </a:solidFill>
                <a:latin typeface="Montserrat Medium" pitchFamily="34" charset="0"/>
                <a:ea typeface="Montserrat Medium" pitchFamily="34" charset="-122"/>
                <a:cs typeface="Montserrat Medium" pitchFamily="34" charset="-120"/>
              </a:rPr>
              <a:t>Simulated Annealing</a:t>
            </a:r>
            <a:endParaRPr lang="en-US" sz="1750" dirty="0"/>
          </a:p>
        </p:txBody>
      </p:sp>
      <p:sp>
        <p:nvSpPr>
          <p:cNvPr id="17" name="Text 14"/>
          <p:cNvSpPr/>
          <p:nvPr/>
        </p:nvSpPr>
        <p:spPr>
          <a:xfrm>
            <a:off x="7606784" y="6970276"/>
            <a:ext cx="6194108" cy="286822"/>
          </a:xfrm>
          <a:prstGeom prst="rect">
            <a:avLst/>
          </a:prstGeom>
          <a:noFill/>
          <a:ln/>
        </p:spPr>
        <p:txBody>
          <a:bodyPr wrap="none" lIns="0" tIns="0" rIns="0" bIns="0" rtlCol="0" anchor="t"/>
          <a:lstStyle/>
          <a:p>
            <a:pPr marL="0" indent="0" algn="l">
              <a:lnSpc>
                <a:spcPts val="2250"/>
              </a:lnSpc>
              <a:buNone/>
            </a:pPr>
            <a:r>
              <a:rPr lang="en-US" sz="1400" dirty="0">
                <a:solidFill>
                  <a:srgbClr val="3D3E44"/>
                </a:solidFill>
                <a:latin typeface="Inter Light" pitchFamily="34" charset="0"/>
                <a:ea typeface="Inter Light" pitchFamily="34" charset="-122"/>
                <a:cs typeface="Inter Light" pitchFamily="34" charset="-120"/>
              </a:rPr>
              <a:t>Cho phép chấp nhận nước đi kém hơn để thoát cực trị địa phương.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name="Slide 15">
    <p:spTree>
      <p:nvGrpSpPr>
        <p:cNvPr id="1" name=""/>
        <p:cNvGrpSpPr/>
        <p:nvPr/>
      </p:nvGrpSpPr>
      <p:grpSpPr>
        <a:xfrm>
          <a:off x="0" y="0"/>
          <a:ext cx="0" cy="0"/>
          <a:chOff x="0" y="0"/>
          <a:chExt cx="0" cy="0"/>
        </a:xfrm>
      </p:grpSpPr>
      <p:sp>
        <p:nvSpPr>
          <p:cNvPr id="2" name="Text 0"/>
          <p:cNvSpPr/>
          <p:nvPr/>
        </p:nvSpPr>
        <p:spPr>
          <a:xfrm>
            <a:off x="662345" y="653653"/>
            <a:ext cx="11064835" cy="591383"/>
          </a:xfrm>
          <a:prstGeom prst="rect">
            <a:avLst/>
          </a:prstGeom>
          <a:noFill/>
          <a:ln/>
        </p:spPr>
        <p:txBody>
          <a:bodyPr wrap="none" lIns="0" tIns="0" rIns="0" bIns="0" rtlCol="0" anchor="t"/>
          <a:lstStyle/>
          <a:p>
            <a:pPr marL="0" indent="0" algn="l">
              <a:lnSpc>
                <a:spcPts val="4650"/>
              </a:lnSpc>
              <a:buNone/>
            </a:pPr>
            <a:r>
              <a:rPr lang="en-US" sz="3700" dirty="0">
                <a:solidFill>
                  <a:srgbClr val="74767D"/>
                </a:solidFill>
                <a:latin typeface="Montserrat Medium" pitchFamily="34" charset="0"/>
                <a:ea typeface="Montserrat Medium" pitchFamily="34" charset="-122"/>
                <a:cs typeface="Montserrat Medium" pitchFamily="34" charset="-120"/>
              </a:rPr>
              <a:t>Kết Quả Thực Nghiệm N-Queens (N=4 và N=8)</a:t>
            </a:r>
            <a:endParaRPr lang="en-US" sz="3700" dirty="0"/>
          </a:p>
        </p:txBody>
      </p:sp>
      <p:sp>
        <p:nvSpPr>
          <p:cNvPr id="3" name="Text 1"/>
          <p:cNvSpPr/>
          <p:nvPr/>
        </p:nvSpPr>
        <p:spPr>
          <a:xfrm>
            <a:off x="662345" y="1623536"/>
            <a:ext cx="13305711"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So sánh Tỷ lệ Thành công (Success Rate) và Thời gian chạy trung bình (Avg. Run time).</a:t>
            </a:r>
            <a:endParaRPr lang="en-US" sz="1450" dirty="0"/>
          </a:p>
        </p:txBody>
      </p:sp>
      <p:sp>
        <p:nvSpPr>
          <p:cNvPr id="4" name="Shape 2"/>
          <p:cNvSpPr/>
          <p:nvPr/>
        </p:nvSpPr>
        <p:spPr>
          <a:xfrm>
            <a:off x="662345" y="2139315"/>
            <a:ext cx="13305711" cy="4920853"/>
          </a:xfrm>
          <a:prstGeom prst="roundRect">
            <a:avLst>
              <a:gd name="adj" fmla="val 3461"/>
            </a:avLst>
          </a:prstGeom>
          <a:noFill/>
          <a:ln w="7620">
            <a:solidFill>
              <a:srgbClr val="000000">
                <a:alpha val="8000"/>
              </a:srgbClr>
            </a:solidFill>
            <a:prstDash val="solid"/>
          </a:ln>
        </p:spPr>
        <p:txBody>
          <a:bodyPr/>
          <a:lstStyle/>
          <a:p>
            <a:endParaRPr lang="en-US"/>
          </a:p>
        </p:txBody>
      </p:sp>
      <p:sp>
        <p:nvSpPr>
          <p:cNvPr id="5" name="Shape 3"/>
          <p:cNvSpPr/>
          <p:nvPr/>
        </p:nvSpPr>
        <p:spPr>
          <a:xfrm>
            <a:off x="669965" y="2146935"/>
            <a:ext cx="13290471" cy="545068"/>
          </a:xfrm>
          <a:prstGeom prst="rect">
            <a:avLst/>
          </a:prstGeom>
          <a:solidFill>
            <a:srgbClr val="FFFFFF">
              <a:alpha val="4000"/>
            </a:srgbClr>
          </a:solidFill>
          <a:ln/>
        </p:spPr>
        <p:txBody>
          <a:bodyPr/>
          <a:lstStyle/>
          <a:p>
            <a:endParaRPr lang="en-US"/>
          </a:p>
        </p:txBody>
      </p:sp>
      <p:sp>
        <p:nvSpPr>
          <p:cNvPr id="6" name="Text 4"/>
          <p:cNvSpPr/>
          <p:nvPr/>
        </p:nvSpPr>
        <p:spPr>
          <a:xfrm>
            <a:off x="859274" y="2268022"/>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Algorithm</a:t>
            </a:r>
            <a:endParaRPr lang="en-US" sz="1450" dirty="0"/>
          </a:p>
        </p:txBody>
      </p:sp>
      <p:sp>
        <p:nvSpPr>
          <p:cNvPr id="7" name="Text 5"/>
          <p:cNvSpPr/>
          <p:nvPr/>
        </p:nvSpPr>
        <p:spPr>
          <a:xfrm>
            <a:off x="3521154" y="2268022"/>
            <a:ext cx="227207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Board size</a:t>
            </a:r>
            <a:endParaRPr lang="en-US" sz="1450" dirty="0"/>
          </a:p>
        </p:txBody>
      </p:sp>
      <p:sp>
        <p:nvSpPr>
          <p:cNvPr id="8" name="Text 6"/>
          <p:cNvSpPr/>
          <p:nvPr/>
        </p:nvSpPr>
        <p:spPr>
          <a:xfrm>
            <a:off x="6179225" y="2268022"/>
            <a:ext cx="227207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Avg. Run time (s)</a:t>
            </a:r>
            <a:endParaRPr lang="en-US" sz="1450" dirty="0"/>
          </a:p>
        </p:txBody>
      </p:sp>
      <p:sp>
        <p:nvSpPr>
          <p:cNvPr id="9" name="Text 7"/>
          <p:cNvSpPr/>
          <p:nvPr/>
        </p:nvSpPr>
        <p:spPr>
          <a:xfrm>
            <a:off x="8837295" y="2268022"/>
            <a:ext cx="227207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Avg. conflicts</a:t>
            </a:r>
            <a:endParaRPr lang="en-US" sz="1450" dirty="0"/>
          </a:p>
        </p:txBody>
      </p:sp>
      <p:sp>
        <p:nvSpPr>
          <p:cNvPr id="10" name="Text 8"/>
          <p:cNvSpPr/>
          <p:nvPr/>
        </p:nvSpPr>
        <p:spPr>
          <a:xfrm>
            <a:off x="11495365" y="2268022"/>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Success rate (%)</a:t>
            </a:r>
            <a:endParaRPr lang="en-US" sz="1450" dirty="0"/>
          </a:p>
        </p:txBody>
      </p:sp>
      <p:sp>
        <p:nvSpPr>
          <p:cNvPr id="11" name="Shape 9"/>
          <p:cNvSpPr/>
          <p:nvPr/>
        </p:nvSpPr>
        <p:spPr>
          <a:xfrm>
            <a:off x="669965" y="2692003"/>
            <a:ext cx="13290471" cy="545068"/>
          </a:xfrm>
          <a:prstGeom prst="rect">
            <a:avLst/>
          </a:prstGeom>
          <a:solidFill>
            <a:srgbClr val="000000">
              <a:alpha val="4000"/>
            </a:srgbClr>
          </a:solidFill>
          <a:ln/>
        </p:spPr>
        <p:txBody>
          <a:bodyPr/>
          <a:lstStyle/>
          <a:p>
            <a:endParaRPr lang="en-US"/>
          </a:p>
        </p:txBody>
      </p:sp>
      <p:sp>
        <p:nvSpPr>
          <p:cNvPr id="12" name="Text 10"/>
          <p:cNvSpPr/>
          <p:nvPr/>
        </p:nvSpPr>
        <p:spPr>
          <a:xfrm>
            <a:off x="859274" y="2813090"/>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Steepest HC</a:t>
            </a:r>
            <a:endParaRPr lang="en-US" sz="1450" dirty="0"/>
          </a:p>
        </p:txBody>
      </p:sp>
      <p:sp>
        <p:nvSpPr>
          <p:cNvPr id="13" name="Text 11"/>
          <p:cNvSpPr/>
          <p:nvPr/>
        </p:nvSpPr>
        <p:spPr>
          <a:xfrm>
            <a:off x="3521154" y="2813090"/>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4</a:t>
            </a:r>
            <a:endParaRPr lang="en-US" sz="1450" dirty="0"/>
          </a:p>
        </p:txBody>
      </p:sp>
      <p:sp>
        <p:nvSpPr>
          <p:cNvPr id="14" name="Text 12"/>
          <p:cNvSpPr/>
          <p:nvPr/>
        </p:nvSpPr>
        <p:spPr>
          <a:xfrm>
            <a:off x="6179225" y="2813090"/>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0.000582</a:t>
            </a:r>
            <a:endParaRPr lang="en-US" sz="1450" dirty="0"/>
          </a:p>
        </p:txBody>
      </p:sp>
      <p:sp>
        <p:nvSpPr>
          <p:cNvPr id="15" name="Text 13"/>
          <p:cNvSpPr/>
          <p:nvPr/>
        </p:nvSpPr>
        <p:spPr>
          <a:xfrm>
            <a:off x="8837295" y="2813090"/>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0.64</a:t>
            </a:r>
            <a:endParaRPr lang="en-US" sz="1450" dirty="0"/>
          </a:p>
        </p:txBody>
      </p:sp>
      <p:sp>
        <p:nvSpPr>
          <p:cNvPr id="16" name="Text 14"/>
          <p:cNvSpPr/>
          <p:nvPr/>
        </p:nvSpPr>
        <p:spPr>
          <a:xfrm>
            <a:off x="11495365" y="2813090"/>
            <a:ext cx="227588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44.00</a:t>
            </a:r>
            <a:endParaRPr lang="en-US" sz="1450" dirty="0"/>
          </a:p>
        </p:txBody>
      </p:sp>
      <p:sp>
        <p:nvSpPr>
          <p:cNvPr id="17" name="Shape 15"/>
          <p:cNvSpPr/>
          <p:nvPr/>
        </p:nvSpPr>
        <p:spPr>
          <a:xfrm>
            <a:off x="669965" y="3237071"/>
            <a:ext cx="13290471" cy="545068"/>
          </a:xfrm>
          <a:prstGeom prst="rect">
            <a:avLst/>
          </a:prstGeom>
          <a:solidFill>
            <a:srgbClr val="FFFFFF">
              <a:alpha val="4000"/>
            </a:srgbClr>
          </a:solidFill>
          <a:ln/>
        </p:spPr>
        <p:txBody>
          <a:bodyPr/>
          <a:lstStyle/>
          <a:p>
            <a:endParaRPr lang="en-US"/>
          </a:p>
        </p:txBody>
      </p:sp>
      <p:sp>
        <p:nvSpPr>
          <p:cNvPr id="18" name="Text 16"/>
          <p:cNvSpPr/>
          <p:nvPr/>
        </p:nvSpPr>
        <p:spPr>
          <a:xfrm>
            <a:off x="859274" y="3358158"/>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Stochastic HC 1</a:t>
            </a:r>
            <a:endParaRPr lang="en-US" sz="1450" dirty="0"/>
          </a:p>
        </p:txBody>
      </p:sp>
      <p:sp>
        <p:nvSpPr>
          <p:cNvPr id="19" name="Text 17"/>
          <p:cNvSpPr/>
          <p:nvPr/>
        </p:nvSpPr>
        <p:spPr>
          <a:xfrm>
            <a:off x="3521154" y="3358158"/>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4</a:t>
            </a:r>
            <a:endParaRPr lang="en-US" sz="1450" dirty="0"/>
          </a:p>
        </p:txBody>
      </p:sp>
      <p:sp>
        <p:nvSpPr>
          <p:cNvPr id="20" name="Text 18"/>
          <p:cNvSpPr/>
          <p:nvPr/>
        </p:nvSpPr>
        <p:spPr>
          <a:xfrm>
            <a:off x="6179225" y="3358158"/>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0.000713</a:t>
            </a:r>
            <a:endParaRPr lang="en-US" sz="1450" dirty="0"/>
          </a:p>
        </p:txBody>
      </p:sp>
      <p:sp>
        <p:nvSpPr>
          <p:cNvPr id="21" name="Text 19"/>
          <p:cNvSpPr/>
          <p:nvPr/>
        </p:nvSpPr>
        <p:spPr>
          <a:xfrm>
            <a:off x="8837295" y="3358158"/>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0.69</a:t>
            </a:r>
            <a:endParaRPr lang="en-US" sz="1450" dirty="0"/>
          </a:p>
        </p:txBody>
      </p:sp>
      <p:sp>
        <p:nvSpPr>
          <p:cNvPr id="22" name="Text 20"/>
          <p:cNvSpPr/>
          <p:nvPr/>
        </p:nvSpPr>
        <p:spPr>
          <a:xfrm>
            <a:off x="11495365" y="3358158"/>
            <a:ext cx="227588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43.00</a:t>
            </a:r>
            <a:endParaRPr lang="en-US" sz="1450" dirty="0"/>
          </a:p>
        </p:txBody>
      </p:sp>
      <p:sp>
        <p:nvSpPr>
          <p:cNvPr id="23" name="Shape 21"/>
          <p:cNvSpPr/>
          <p:nvPr/>
        </p:nvSpPr>
        <p:spPr>
          <a:xfrm>
            <a:off x="669965" y="3782139"/>
            <a:ext cx="13290471" cy="545068"/>
          </a:xfrm>
          <a:prstGeom prst="rect">
            <a:avLst/>
          </a:prstGeom>
          <a:solidFill>
            <a:srgbClr val="000000">
              <a:alpha val="4000"/>
            </a:srgbClr>
          </a:solidFill>
          <a:ln/>
        </p:spPr>
        <p:txBody>
          <a:bodyPr/>
          <a:lstStyle/>
          <a:p>
            <a:endParaRPr lang="en-US"/>
          </a:p>
        </p:txBody>
      </p:sp>
      <p:sp>
        <p:nvSpPr>
          <p:cNvPr id="24" name="Text 22"/>
          <p:cNvSpPr/>
          <p:nvPr/>
        </p:nvSpPr>
        <p:spPr>
          <a:xfrm>
            <a:off x="859274" y="3903226"/>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Stochastic HC 2</a:t>
            </a:r>
            <a:endParaRPr lang="en-US" sz="1450" dirty="0"/>
          </a:p>
        </p:txBody>
      </p:sp>
      <p:sp>
        <p:nvSpPr>
          <p:cNvPr id="25" name="Text 23"/>
          <p:cNvSpPr/>
          <p:nvPr/>
        </p:nvSpPr>
        <p:spPr>
          <a:xfrm>
            <a:off x="3521154" y="3903226"/>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4</a:t>
            </a:r>
            <a:endParaRPr lang="en-US" sz="1450" dirty="0"/>
          </a:p>
        </p:txBody>
      </p:sp>
      <p:sp>
        <p:nvSpPr>
          <p:cNvPr id="26" name="Text 24"/>
          <p:cNvSpPr/>
          <p:nvPr/>
        </p:nvSpPr>
        <p:spPr>
          <a:xfrm>
            <a:off x="6179225" y="3903226"/>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0.088260</a:t>
            </a:r>
            <a:endParaRPr lang="en-US" sz="1450" dirty="0"/>
          </a:p>
        </p:txBody>
      </p:sp>
      <p:sp>
        <p:nvSpPr>
          <p:cNvPr id="27" name="Text 25"/>
          <p:cNvSpPr/>
          <p:nvPr/>
        </p:nvSpPr>
        <p:spPr>
          <a:xfrm>
            <a:off x="8837295" y="3903226"/>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0.83</a:t>
            </a:r>
            <a:endParaRPr lang="en-US" sz="1450" dirty="0"/>
          </a:p>
        </p:txBody>
      </p:sp>
      <p:sp>
        <p:nvSpPr>
          <p:cNvPr id="28" name="Text 26"/>
          <p:cNvSpPr/>
          <p:nvPr/>
        </p:nvSpPr>
        <p:spPr>
          <a:xfrm>
            <a:off x="11495365" y="3903226"/>
            <a:ext cx="227588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31.00</a:t>
            </a:r>
            <a:endParaRPr lang="en-US" sz="1450" dirty="0"/>
          </a:p>
        </p:txBody>
      </p:sp>
      <p:sp>
        <p:nvSpPr>
          <p:cNvPr id="29" name="Shape 27"/>
          <p:cNvSpPr/>
          <p:nvPr/>
        </p:nvSpPr>
        <p:spPr>
          <a:xfrm>
            <a:off x="669965" y="4327208"/>
            <a:ext cx="13290471" cy="545068"/>
          </a:xfrm>
          <a:prstGeom prst="rect">
            <a:avLst/>
          </a:prstGeom>
          <a:solidFill>
            <a:srgbClr val="FFFFFF">
              <a:alpha val="4000"/>
            </a:srgbClr>
          </a:solidFill>
          <a:ln/>
        </p:spPr>
        <p:txBody>
          <a:bodyPr/>
          <a:lstStyle/>
          <a:p>
            <a:endParaRPr lang="en-US"/>
          </a:p>
        </p:txBody>
      </p:sp>
      <p:sp>
        <p:nvSpPr>
          <p:cNvPr id="30" name="Text 28"/>
          <p:cNvSpPr/>
          <p:nvPr/>
        </p:nvSpPr>
        <p:spPr>
          <a:xfrm>
            <a:off x="859274" y="4448294"/>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Simulated Annealing</a:t>
            </a:r>
            <a:endParaRPr lang="en-US" sz="1450" dirty="0"/>
          </a:p>
        </p:txBody>
      </p:sp>
      <p:sp>
        <p:nvSpPr>
          <p:cNvPr id="31" name="Text 29"/>
          <p:cNvSpPr/>
          <p:nvPr/>
        </p:nvSpPr>
        <p:spPr>
          <a:xfrm>
            <a:off x="3521154" y="4448294"/>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4</a:t>
            </a:r>
            <a:endParaRPr lang="en-US" sz="1450" dirty="0"/>
          </a:p>
        </p:txBody>
      </p:sp>
      <p:sp>
        <p:nvSpPr>
          <p:cNvPr id="32" name="Text 30"/>
          <p:cNvSpPr/>
          <p:nvPr/>
        </p:nvSpPr>
        <p:spPr>
          <a:xfrm>
            <a:off x="6179225" y="4448294"/>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0.003273</a:t>
            </a:r>
            <a:endParaRPr lang="en-US" sz="1450" dirty="0"/>
          </a:p>
        </p:txBody>
      </p:sp>
      <p:sp>
        <p:nvSpPr>
          <p:cNvPr id="33" name="Text 31"/>
          <p:cNvSpPr/>
          <p:nvPr/>
        </p:nvSpPr>
        <p:spPr>
          <a:xfrm>
            <a:off x="8837295" y="4448294"/>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0.00</a:t>
            </a:r>
            <a:endParaRPr lang="en-US" sz="1450" dirty="0"/>
          </a:p>
        </p:txBody>
      </p:sp>
      <p:sp>
        <p:nvSpPr>
          <p:cNvPr id="34" name="Text 32"/>
          <p:cNvSpPr/>
          <p:nvPr/>
        </p:nvSpPr>
        <p:spPr>
          <a:xfrm>
            <a:off x="11495365" y="4448294"/>
            <a:ext cx="227588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100.00</a:t>
            </a:r>
            <a:endParaRPr lang="en-US" sz="1450" dirty="0"/>
          </a:p>
        </p:txBody>
      </p:sp>
      <p:sp>
        <p:nvSpPr>
          <p:cNvPr id="35" name="Shape 33"/>
          <p:cNvSpPr/>
          <p:nvPr/>
        </p:nvSpPr>
        <p:spPr>
          <a:xfrm>
            <a:off x="669965" y="4872276"/>
            <a:ext cx="13290471" cy="545068"/>
          </a:xfrm>
          <a:prstGeom prst="rect">
            <a:avLst/>
          </a:prstGeom>
          <a:solidFill>
            <a:srgbClr val="000000">
              <a:alpha val="4000"/>
            </a:srgbClr>
          </a:solidFill>
          <a:ln/>
        </p:spPr>
        <p:txBody>
          <a:bodyPr/>
          <a:lstStyle/>
          <a:p>
            <a:endParaRPr lang="en-US"/>
          </a:p>
        </p:txBody>
      </p:sp>
      <p:sp>
        <p:nvSpPr>
          <p:cNvPr id="36" name="Text 34"/>
          <p:cNvSpPr/>
          <p:nvPr/>
        </p:nvSpPr>
        <p:spPr>
          <a:xfrm>
            <a:off x="859274" y="4993362"/>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Steepest HC</a:t>
            </a:r>
            <a:endParaRPr lang="en-US" sz="1450" dirty="0"/>
          </a:p>
        </p:txBody>
      </p:sp>
      <p:sp>
        <p:nvSpPr>
          <p:cNvPr id="37" name="Text 35"/>
          <p:cNvSpPr/>
          <p:nvPr/>
        </p:nvSpPr>
        <p:spPr>
          <a:xfrm>
            <a:off x="3521154" y="4993362"/>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8</a:t>
            </a:r>
            <a:endParaRPr lang="en-US" sz="1450" dirty="0"/>
          </a:p>
        </p:txBody>
      </p:sp>
      <p:sp>
        <p:nvSpPr>
          <p:cNvPr id="38" name="Text 36"/>
          <p:cNvSpPr/>
          <p:nvPr/>
        </p:nvSpPr>
        <p:spPr>
          <a:xfrm>
            <a:off x="6179225" y="4993362"/>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0.012305</a:t>
            </a:r>
            <a:endParaRPr lang="en-US" sz="1450" dirty="0"/>
          </a:p>
        </p:txBody>
      </p:sp>
      <p:sp>
        <p:nvSpPr>
          <p:cNvPr id="39" name="Text 37"/>
          <p:cNvSpPr/>
          <p:nvPr/>
        </p:nvSpPr>
        <p:spPr>
          <a:xfrm>
            <a:off x="8837295" y="4993362"/>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1.26</a:t>
            </a:r>
            <a:endParaRPr lang="en-US" sz="1450" dirty="0"/>
          </a:p>
        </p:txBody>
      </p:sp>
      <p:sp>
        <p:nvSpPr>
          <p:cNvPr id="40" name="Text 38"/>
          <p:cNvSpPr/>
          <p:nvPr/>
        </p:nvSpPr>
        <p:spPr>
          <a:xfrm>
            <a:off x="11495365" y="4993362"/>
            <a:ext cx="227588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15.00</a:t>
            </a:r>
            <a:endParaRPr lang="en-US" sz="1450" dirty="0"/>
          </a:p>
        </p:txBody>
      </p:sp>
      <p:sp>
        <p:nvSpPr>
          <p:cNvPr id="41" name="Shape 39"/>
          <p:cNvSpPr/>
          <p:nvPr/>
        </p:nvSpPr>
        <p:spPr>
          <a:xfrm>
            <a:off x="669965" y="5417344"/>
            <a:ext cx="13290471" cy="545068"/>
          </a:xfrm>
          <a:prstGeom prst="rect">
            <a:avLst/>
          </a:prstGeom>
          <a:solidFill>
            <a:srgbClr val="FFFFFF">
              <a:alpha val="4000"/>
            </a:srgbClr>
          </a:solidFill>
          <a:ln/>
        </p:spPr>
        <p:txBody>
          <a:bodyPr/>
          <a:lstStyle/>
          <a:p>
            <a:endParaRPr lang="en-US"/>
          </a:p>
        </p:txBody>
      </p:sp>
      <p:sp>
        <p:nvSpPr>
          <p:cNvPr id="42" name="Text 40"/>
          <p:cNvSpPr/>
          <p:nvPr/>
        </p:nvSpPr>
        <p:spPr>
          <a:xfrm>
            <a:off x="859274" y="5538430"/>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Stochastic HC 1</a:t>
            </a:r>
            <a:endParaRPr lang="en-US" sz="1450" dirty="0"/>
          </a:p>
        </p:txBody>
      </p:sp>
      <p:sp>
        <p:nvSpPr>
          <p:cNvPr id="43" name="Text 41"/>
          <p:cNvSpPr/>
          <p:nvPr/>
        </p:nvSpPr>
        <p:spPr>
          <a:xfrm>
            <a:off x="3521154" y="5538430"/>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8</a:t>
            </a:r>
            <a:endParaRPr lang="en-US" sz="1450" dirty="0"/>
          </a:p>
        </p:txBody>
      </p:sp>
      <p:sp>
        <p:nvSpPr>
          <p:cNvPr id="44" name="Text 42"/>
          <p:cNvSpPr/>
          <p:nvPr/>
        </p:nvSpPr>
        <p:spPr>
          <a:xfrm>
            <a:off x="6179225" y="5538430"/>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0.025550</a:t>
            </a:r>
            <a:endParaRPr lang="en-US" sz="1450" dirty="0"/>
          </a:p>
        </p:txBody>
      </p:sp>
      <p:sp>
        <p:nvSpPr>
          <p:cNvPr id="45" name="Text 43"/>
          <p:cNvSpPr/>
          <p:nvPr/>
        </p:nvSpPr>
        <p:spPr>
          <a:xfrm>
            <a:off x="8837295" y="5538430"/>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1.28</a:t>
            </a:r>
            <a:endParaRPr lang="en-US" sz="1450" dirty="0"/>
          </a:p>
        </p:txBody>
      </p:sp>
      <p:sp>
        <p:nvSpPr>
          <p:cNvPr id="46" name="Text 44"/>
          <p:cNvSpPr/>
          <p:nvPr/>
        </p:nvSpPr>
        <p:spPr>
          <a:xfrm>
            <a:off x="11495365" y="5538430"/>
            <a:ext cx="227588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18.00</a:t>
            </a:r>
            <a:endParaRPr lang="en-US" sz="1450" dirty="0"/>
          </a:p>
        </p:txBody>
      </p:sp>
      <p:sp>
        <p:nvSpPr>
          <p:cNvPr id="47" name="Shape 45"/>
          <p:cNvSpPr/>
          <p:nvPr/>
        </p:nvSpPr>
        <p:spPr>
          <a:xfrm>
            <a:off x="669965" y="5962412"/>
            <a:ext cx="13290471" cy="545068"/>
          </a:xfrm>
          <a:prstGeom prst="rect">
            <a:avLst/>
          </a:prstGeom>
          <a:solidFill>
            <a:srgbClr val="000000">
              <a:alpha val="4000"/>
            </a:srgbClr>
          </a:solidFill>
          <a:ln/>
        </p:spPr>
        <p:txBody>
          <a:bodyPr/>
          <a:lstStyle/>
          <a:p>
            <a:endParaRPr lang="en-US"/>
          </a:p>
        </p:txBody>
      </p:sp>
      <p:sp>
        <p:nvSpPr>
          <p:cNvPr id="48" name="Text 46"/>
          <p:cNvSpPr/>
          <p:nvPr/>
        </p:nvSpPr>
        <p:spPr>
          <a:xfrm>
            <a:off x="859274" y="6083498"/>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Stochastic HC 2</a:t>
            </a:r>
            <a:endParaRPr lang="en-US" sz="1450" dirty="0"/>
          </a:p>
        </p:txBody>
      </p:sp>
      <p:sp>
        <p:nvSpPr>
          <p:cNvPr id="49" name="Text 47"/>
          <p:cNvSpPr/>
          <p:nvPr/>
        </p:nvSpPr>
        <p:spPr>
          <a:xfrm>
            <a:off x="3521154" y="6083498"/>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8</a:t>
            </a:r>
            <a:endParaRPr lang="en-US" sz="1450" dirty="0"/>
          </a:p>
        </p:txBody>
      </p:sp>
      <p:sp>
        <p:nvSpPr>
          <p:cNvPr id="50" name="Text 48"/>
          <p:cNvSpPr/>
          <p:nvPr/>
        </p:nvSpPr>
        <p:spPr>
          <a:xfrm>
            <a:off x="6179225" y="6083498"/>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0.076087</a:t>
            </a:r>
            <a:endParaRPr lang="en-US" sz="1450" dirty="0"/>
          </a:p>
        </p:txBody>
      </p:sp>
      <p:sp>
        <p:nvSpPr>
          <p:cNvPr id="51" name="Text 49"/>
          <p:cNvSpPr/>
          <p:nvPr/>
        </p:nvSpPr>
        <p:spPr>
          <a:xfrm>
            <a:off x="8837295" y="6083498"/>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1.31</a:t>
            </a:r>
            <a:endParaRPr lang="en-US" sz="1450" dirty="0"/>
          </a:p>
        </p:txBody>
      </p:sp>
      <p:sp>
        <p:nvSpPr>
          <p:cNvPr id="52" name="Text 50"/>
          <p:cNvSpPr/>
          <p:nvPr/>
        </p:nvSpPr>
        <p:spPr>
          <a:xfrm>
            <a:off x="11495365" y="6083498"/>
            <a:ext cx="227588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11.00</a:t>
            </a:r>
            <a:endParaRPr lang="en-US" sz="1450" dirty="0"/>
          </a:p>
        </p:txBody>
      </p:sp>
      <p:sp>
        <p:nvSpPr>
          <p:cNvPr id="53" name="Shape 51"/>
          <p:cNvSpPr/>
          <p:nvPr/>
        </p:nvSpPr>
        <p:spPr>
          <a:xfrm>
            <a:off x="669965" y="6507480"/>
            <a:ext cx="13290471" cy="545068"/>
          </a:xfrm>
          <a:prstGeom prst="rect">
            <a:avLst/>
          </a:prstGeom>
          <a:solidFill>
            <a:srgbClr val="FFFFFF">
              <a:alpha val="4000"/>
            </a:srgbClr>
          </a:solidFill>
          <a:ln/>
        </p:spPr>
        <p:txBody>
          <a:bodyPr/>
          <a:lstStyle/>
          <a:p>
            <a:endParaRPr lang="en-US"/>
          </a:p>
        </p:txBody>
      </p:sp>
      <p:sp>
        <p:nvSpPr>
          <p:cNvPr id="54" name="Text 52"/>
          <p:cNvSpPr/>
          <p:nvPr/>
        </p:nvSpPr>
        <p:spPr>
          <a:xfrm>
            <a:off x="859274" y="6628567"/>
            <a:ext cx="2275880" cy="302895"/>
          </a:xfrm>
          <a:prstGeom prst="rect">
            <a:avLst/>
          </a:prstGeom>
          <a:noFill/>
          <a:ln/>
        </p:spPr>
        <p:txBody>
          <a:bodyPr wrap="none" lIns="0" tIns="0" rIns="0" bIns="0" rtlCol="0" anchor="t"/>
          <a:lstStyle/>
          <a:p>
            <a:pPr marL="0" indent="0" algn="l">
              <a:lnSpc>
                <a:spcPts val="2350"/>
              </a:lnSpc>
              <a:buNone/>
            </a:pPr>
            <a:r>
              <a:rPr lang="en-US" sz="1450" b="1" dirty="0">
                <a:solidFill>
                  <a:srgbClr val="3D3E44"/>
                </a:solidFill>
                <a:latin typeface="Inter Light" pitchFamily="34" charset="0"/>
                <a:ea typeface="Inter Light" pitchFamily="34" charset="-122"/>
                <a:cs typeface="Inter Light" pitchFamily="34" charset="-120"/>
              </a:rPr>
              <a:t>Simulated Annealing</a:t>
            </a:r>
            <a:endParaRPr lang="en-US" sz="1450" dirty="0"/>
          </a:p>
        </p:txBody>
      </p:sp>
      <p:sp>
        <p:nvSpPr>
          <p:cNvPr id="55" name="Text 53"/>
          <p:cNvSpPr/>
          <p:nvPr/>
        </p:nvSpPr>
        <p:spPr>
          <a:xfrm>
            <a:off x="3521154" y="6628567"/>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8</a:t>
            </a:r>
            <a:endParaRPr lang="en-US" sz="1450" dirty="0"/>
          </a:p>
        </p:txBody>
      </p:sp>
      <p:sp>
        <p:nvSpPr>
          <p:cNvPr id="56" name="Text 54"/>
          <p:cNvSpPr/>
          <p:nvPr/>
        </p:nvSpPr>
        <p:spPr>
          <a:xfrm>
            <a:off x="6179225" y="6628567"/>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0.018853</a:t>
            </a:r>
            <a:endParaRPr lang="en-US" sz="1450" dirty="0"/>
          </a:p>
        </p:txBody>
      </p:sp>
      <p:sp>
        <p:nvSpPr>
          <p:cNvPr id="57" name="Text 55"/>
          <p:cNvSpPr/>
          <p:nvPr/>
        </p:nvSpPr>
        <p:spPr>
          <a:xfrm>
            <a:off x="8837295" y="6628567"/>
            <a:ext cx="227207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0.07</a:t>
            </a:r>
            <a:endParaRPr lang="en-US" sz="1450" dirty="0"/>
          </a:p>
        </p:txBody>
      </p:sp>
      <p:sp>
        <p:nvSpPr>
          <p:cNvPr id="58" name="Text 56"/>
          <p:cNvSpPr/>
          <p:nvPr/>
        </p:nvSpPr>
        <p:spPr>
          <a:xfrm>
            <a:off x="11495365" y="6628567"/>
            <a:ext cx="2275880"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93.00</a:t>
            </a:r>
            <a:endParaRPr lang="en-US" sz="1450" dirty="0"/>
          </a:p>
        </p:txBody>
      </p:sp>
      <p:sp>
        <p:nvSpPr>
          <p:cNvPr id="59" name="Text 57"/>
          <p:cNvSpPr/>
          <p:nvPr/>
        </p:nvSpPr>
        <p:spPr>
          <a:xfrm>
            <a:off x="662345" y="7273052"/>
            <a:ext cx="13305711" cy="302895"/>
          </a:xfrm>
          <a:prstGeom prst="rect">
            <a:avLst/>
          </a:prstGeom>
          <a:noFill/>
          <a:ln/>
        </p:spPr>
        <p:txBody>
          <a:bodyPr wrap="none" lIns="0" tIns="0" rIns="0" bIns="0" rtlCol="0" anchor="t"/>
          <a:lstStyle/>
          <a:p>
            <a:pPr marL="0" indent="0" algn="l">
              <a:lnSpc>
                <a:spcPts val="2350"/>
              </a:lnSpc>
              <a:buNone/>
            </a:pPr>
            <a:r>
              <a:rPr lang="en-US" sz="1450" dirty="0">
                <a:solidFill>
                  <a:srgbClr val="3D3E44"/>
                </a:solidFill>
                <a:latin typeface="Inter Light" pitchFamily="34" charset="0"/>
                <a:ea typeface="Inter Light" pitchFamily="34" charset="-122"/>
                <a:cs typeface="Inter Light" pitchFamily="34" charset="-120"/>
              </a:rPr>
              <a:t>SA cho kết quả ổn định nhất, đạt tỷ lệ thành công cao (93% với N=8) và xung đột trung bình thấp nhất.</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1440894"/>
            <a:ext cx="6788468" cy="4780717"/>
          </a:xfrm>
          <a:prstGeom prst="rect">
            <a:avLst/>
          </a:prstGeom>
        </p:spPr>
      </p:pic>
      <p:sp>
        <p:nvSpPr>
          <p:cNvPr id="3" name="Text 0"/>
          <p:cNvSpPr/>
          <p:nvPr/>
        </p:nvSpPr>
        <p:spPr>
          <a:xfrm>
            <a:off x="793790" y="6476762"/>
            <a:ext cx="6788468"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Text 1"/>
          <p:cNvSpPr/>
          <p:nvPr/>
        </p:nvSpPr>
        <p:spPr>
          <a:xfrm>
            <a:off x="8143280" y="255270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So Sánh Hội Tụ</a:t>
            </a:r>
            <a:endParaRPr lang="en-US" sz="4450" dirty="0"/>
          </a:p>
        </p:txBody>
      </p:sp>
      <p:sp>
        <p:nvSpPr>
          <p:cNvPr id="5" name="Text 2"/>
          <p:cNvSpPr/>
          <p:nvPr/>
        </p:nvSpPr>
        <p:spPr>
          <a:xfrm>
            <a:off x="8143280" y="3488293"/>
            <a:ext cx="5700832"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l Steepest hội tụ nhanh nhất nhưng thiếu linh hoạt.</a:t>
            </a:r>
            <a:endParaRPr lang="en-US" sz="1750" dirty="0"/>
          </a:p>
        </p:txBody>
      </p:sp>
      <p:sp>
        <p:nvSpPr>
          <p:cNvPr id="6" name="Text 3"/>
          <p:cNvSpPr/>
          <p:nvPr/>
        </p:nvSpPr>
        <p:spPr>
          <a:xfrm>
            <a:off x="8143280" y="3930491"/>
            <a:ext cx="5700832"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l Stochastic HC1 và HC2 đa dạng hơn nhưng thiếu ổn định, dễ dừng ở nghiệm chưa tối ưu.</a:t>
            </a:r>
            <a:endParaRPr lang="en-US" sz="1750" dirty="0"/>
          </a:p>
        </p:txBody>
      </p:sp>
      <p:sp>
        <p:nvSpPr>
          <p:cNvPr id="7" name="Text 4"/>
          <p:cNvSpPr/>
          <p:nvPr/>
        </p:nvSpPr>
        <p:spPr>
          <a:xfrm>
            <a:off x="8143280" y="4735592"/>
            <a:ext cx="5700832"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l Simulated Annealing là cân bằng nhất: tuy chậm hơn một chút nhưng cho kết quả ổn định và có khả năng đạt nghiệm tối ưu cao.</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name="Slide 17">
    <p:spTree>
      <p:nvGrpSpPr>
        <p:cNvPr id="1" name=""/>
        <p:cNvGrpSpPr/>
        <p:nvPr/>
      </p:nvGrpSpPr>
      <p:grpSpPr>
        <a:xfrm>
          <a:off x="0" y="0"/>
          <a:ext cx="0" cy="0"/>
          <a:chOff x="0" y="0"/>
          <a:chExt cx="0" cy="0"/>
        </a:xfrm>
      </p:grpSpPr>
      <p:sp>
        <p:nvSpPr>
          <p:cNvPr id="2" name="Text 0"/>
          <p:cNvSpPr/>
          <p:nvPr/>
        </p:nvSpPr>
        <p:spPr>
          <a:xfrm>
            <a:off x="793790" y="2294692"/>
            <a:ext cx="5292923" cy="1417558"/>
          </a:xfrm>
          <a:prstGeom prst="rect">
            <a:avLst/>
          </a:prstGeom>
          <a:noFill/>
          <a:ln/>
        </p:spPr>
        <p:txBody>
          <a:bodyPr wrap="squar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Khả Năng Mở Rộng</a:t>
            </a:r>
            <a:endParaRPr lang="en-US" sz="4450" dirty="0"/>
          </a:p>
        </p:txBody>
      </p:sp>
      <p:sp>
        <p:nvSpPr>
          <p:cNvPr id="3" name="Text 1"/>
          <p:cNvSpPr/>
          <p:nvPr/>
        </p:nvSpPr>
        <p:spPr>
          <a:xfrm>
            <a:off x="793790" y="3939064"/>
            <a:ext cx="5292923"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l Với </a:t>
            </a:r>
            <a:r>
              <a:rPr lang="en-US" sz="1750" b="1" dirty="0">
                <a:solidFill>
                  <a:srgbClr val="3D3E44"/>
                </a:solidFill>
                <a:latin typeface="Inter Light" pitchFamily="34" charset="0"/>
                <a:ea typeface="Inter Light" pitchFamily="34" charset="-122"/>
                <a:cs typeface="Inter Light" pitchFamily="34" charset="-120"/>
              </a:rPr>
              <a:t>n nhỏ</a:t>
            </a:r>
            <a:r>
              <a:rPr lang="en-US" sz="1750" dirty="0">
                <a:solidFill>
                  <a:srgbClr val="3D3E44"/>
                </a:solidFill>
                <a:latin typeface="Inter Light" pitchFamily="34" charset="0"/>
                <a:ea typeface="Inter Light" pitchFamily="34" charset="-122"/>
                <a:cs typeface="Inter Light" pitchFamily="34" charset="-120"/>
              </a:rPr>
              <a:t> → Hill Climbing nhanh và đơn giản, phù hợp.</a:t>
            </a:r>
            <a:endParaRPr lang="en-US" sz="1750" dirty="0"/>
          </a:p>
        </p:txBody>
      </p:sp>
      <p:sp>
        <p:nvSpPr>
          <p:cNvPr id="4" name="Text 2"/>
          <p:cNvSpPr/>
          <p:nvPr/>
        </p:nvSpPr>
        <p:spPr>
          <a:xfrm>
            <a:off x="793790" y="4868942"/>
            <a:ext cx="5292923" cy="1088708"/>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l Với </a:t>
            </a:r>
            <a:r>
              <a:rPr lang="en-US" sz="1750" b="1" dirty="0">
                <a:solidFill>
                  <a:srgbClr val="3D3E44"/>
                </a:solidFill>
                <a:latin typeface="Inter Light" pitchFamily="34" charset="0"/>
                <a:ea typeface="Inter Light" pitchFamily="34" charset="-122"/>
                <a:cs typeface="Inter Light" pitchFamily="34" charset="-120"/>
              </a:rPr>
              <a:t>n lớn</a:t>
            </a:r>
            <a:r>
              <a:rPr lang="en-US" sz="1750" dirty="0">
                <a:solidFill>
                  <a:srgbClr val="3D3E44"/>
                </a:solidFill>
                <a:latin typeface="Inter Light" pitchFamily="34" charset="0"/>
                <a:ea typeface="Inter Light" pitchFamily="34" charset="-122"/>
                <a:cs typeface="Inter Light" pitchFamily="34" charset="-120"/>
              </a:rPr>
              <a:t> → Simulated Annealing là lựa chọn tốt hơn nhờ khả năng mở rộng và xác suất tìm nghiệm tối ưu cao.</a:t>
            </a:r>
            <a:endParaRPr lang="en-US" sz="1750" dirty="0"/>
          </a:p>
        </p:txBody>
      </p:sp>
      <p:pic>
        <p:nvPicPr>
          <p:cNvPr id="5" name="Image 0" descr="preencoded.png"/>
          <p:cNvPicPr>
            <a:picLocks noChangeAspect="1"/>
          </p:cNvPicPr>
          <p:nvPr/>
        </p:nvPicPr>
        <p:blipFill>
          <a:blip r:embed="rId3"/>
          <a:stretch>
            <a:fillRect/>
          </a:stretch>
        </p:blipFill>
        <p:spPr>
          <a:xfrm>
            <a:off x="6647736" y="1183958"/>
            <a:ext cx="7196376" cy="5294709"/>
          </a:xfrm>
          <a:prstGeom prst="rect">
            <a:avLst/>
          </a:prstGeom>
        </p:spPr>
      </p:pic>
      <p:sp>
        <p:nvSpPr>
          <p:cNvPr id="6" name="Text 3"/>
          <p:cNvSpPr/>
          <p:nvPr/>
        </p:nvSpPr>
        <p:spPr>
          <a:xfrm>
            <a:off x="6647736" y="6733818"/>
            <a:ext cx="7196376"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name="Slide 18">
    <p:spTree>
      <p:nvGrpSpPr>
        <p:cNvPr id="1" name=""/>
        <p:cNvGrpSpPr/>
        <p:nvPr/>
      </p:nvGrpSpPr>
      <p:grpSpPr>
        <a:xfrm>
          <a:off x="0" y="0"/>
          <a:ext cx="0" cy="0"/>
          <a:chOff x="0" y="0"/>
          <a:chExt cx="0" cy="0"/>
        </a:xfrm>
      </p:grpSpPr>
      <p:sp>
        <p:nvSpPr>
          <p:cNvPr id="2" name="Shape 0"/>
          <p:cNvSpPr/>
          <p:nvPr/>
        </p:nvSpPr>
        <p:spPr>
          <a:xfrm>
            <a:off x="793790" y="1653659"/>
            <a:ext cx="13042821" cy="4922163"/>
          </a:xfrm>
          <a:prstGeom prst="roundRect">
            <a:avLst>
              <a:gd name="adj" fmla="val 4147"/>
            </a:avLst>
          </a:prstGeom>
          <a:noFill/>
          <a:ln w="7620">
            <a:solidFill>
              <a:srgbClr val="000000">
                <a:alpha val="8000"/>
              </a:srgbClr>
            </a:solidFill>
            <a:prstDash val="solid"/>
          </a:ln>
        </p:spPr>
        <p:txBody>
          <a:bodyPr/>
          <a:lstStyle/>
          <a:p>
            <a:endParaRPr lang="en-US"/>
          </a:p>
        </p:txBody>
      </p:sp>
      <p:sp>
        <p:nvSpPr>
          <p:cNvPr id="3" name="Shape 1"/>
          <p:cNvSpPr/>
          <p:nvPr/>
        </p:nvSpPr>
        <p:spPr>
          <a:xfrm>
            <a:off x="801410" y="1661279"/>
            <a:ext cx="13027581" cy="4256603"/>
          </a:xfrm>
          <a:prstGeom prst="rect">
            <a:avLst/>
          </a:prstGeom>
          <a:solidFill>
            <a:srgbClr val="FFFFFF">
              <a:alpha val="4000"/>
            </a:srgbClr>
          </a:solidFill>
          <a:ln/>
        </p:spPr>
        <p:txBody>
          <a:bodyPr/>
          <a:lstStyle/>
          <a:p>
            <a:endParaRPr lang="en-US"/>
          </a:p>
        </p:txBody>
      </p:sp>
      <p:sp>
        <p:nvSpPr>
          <p:cNvPr id="4" name="Text 2"/>
          <p:cNvSpPr/>
          <p:nvPr/>
        </p:nvSpPr>
        <p:spPr>
          <a:xfrm>
            <a:off x="1028224" y="1804988"/>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74767D"/>
                </a:solidFill>
                <a:latin typeface="Montserrat Medium" pitchFamily="34" charset="0"/>
                <a:ea typeface="Montserrat Medium" pitchFamily="34" charset="-122"/>
                <a:cs typeface="Montserrat Medium" pitchFamily="34" charset="-120"/>
              </a:rPr>
              <a:t>4. Kết quả</a:t>
            </a:r>
            <a:endParaRPr lang="en-US" sz="3550" dirty="0"/>
          </a:p>
        </p:txBody>
      </p:sp>
      <p:sp>
        <p:nvSpPr>
          <p:cNvPr id="5" name="Text 3"/>
          <p:cNvSpPr/>
          <p:nvPr/>
        </p:nvSpPr>
        <p:spPr>
          <a:xfrm>
            <a:off x="1028224" y="2508052"/>
            <a:ext cx="6056352" cy="3266123"/>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Các thí nghiệm cho thấy:- Steepest Ascend HC hội tụ nhanh nhưng dễ mắc kẹt nếu không có random restart.- Stochastic HC có tính ngẫu nhiên, giúp thoát khỏi cực trị địa phương nhưng cần nhiều lần chạy.- Simulated Annealing đạt nghiệm tối ưu ổn định, có thể mở rộng tốt hơn.- Random Restart giúp đảm bảo tìm được nghiệm tối ưu với Hill Climbing.</a:t>
            </a:r>
            <a:endParaRPr lang="en-US" sz="1750" dirty="0"/>
          </a:p>
        </p:txBody>
      </p:sp>
      <p:sp>
        <p:nvSpPr>
          <p:cNvPr id="6" name="Text 4"/>
          <p:cNvSpPr/>
          <p:nvPr/>
        </p:nvSpPr>
        <p:spPr>
          <a:xfrm>
            <a:off x="7545824" y="1804988"/>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74767D"/>
                </a:solidFill>
                <a:latin typeface="Montserrat Medium" pitchFamily="34" charset="0"/>
                <a:ea typeface="Montserrat Medium" pitchFamily="34" charset="-122"/>
                <a:cs typeface="Montserrat Medium" pitchFamily="34" charset="-120"/>
              </a:rPr>
              <a:t>5. Kết luận</a:t>
            </a:r>
            <a:endParaRPr lang="en-US" sz="3550" dirty="0"/>
          </a:p>
        </p:txBody>
      </p:sp>
      <p:sp>
        <p:nvSpPr>
          <p:cNvPr id="7" name="Text 5"/>
          <p:cNvSpPr/>
          <p:nvPr/>
        </p:nvSpPr>
        <p:spPr>
          <a:xfrm>
            <a:off x="7545824" y="2508052"/>
            <a:ext cx="6056352" cy="2540318"/>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Trong phạm vi bài toán N=8, tất cả các thuật toán đều có thể tìm nghiệm tối ưu. Simulated Annealing và Hill Climbing với Random Restarts tỏ ra hiệu quả và ổn định hơn. Khi kích thước bàn cờ tăng, SA mở rộng tốt hơn Steepest Ascend. Trong tương lai, có thể thử nghiệm thêm các thuật toán khác như Genetic Algorithm hoặc các toán tử di chuyển nâng cao để cải thiện hiệu suất.</a:t>
            </a:r>
            <a:endParaRPr lang="en-US" sz="1750" dirty="0"/>
          </a:p>
        </p:txBody>
      </p:sp>
      <p:sp>
        <p:nvSpPr>
          <p:cNvPr id="8" name="Shape 6"/>
          <p:cNvSpPr/>
          <p:nvPr/>
        </p:nvSpPr>
        <p:spPr>
          <a:xfrm>
            <a:off x="801410" y="5917883"/>
            <a:ext cx="13027581" cy="650319"/>
          </a:xfrm>
          <a:prstGeom prst="rect">
            <a:avLst/>
          </a:prstGeom>
          <a:solidFill>
            <a:srgbClr val="000000">
              <a:alpha val="4000"/>
            </a:srgbClr>
          </a:solidFill>
          <a:ln/>
        </p:spPr>
        <p:txBody>
          <a:bodyPr/>
          <a:lstStyle/>
          <a:p>
            <a:endParaRPr lang="en-US"/>
          </a:p>
        </p:txBody>
      </p:sp>
      <p:sp>
        <p:nvSpPr>
          <p:cNvPr id="9" name="Text 7"/>
          <p:cNvSpPr/>
          <p:nvPr/>
        </p:nvSpPr>
        <p:spPr>
          <a:xfrm>
            <a:off x="1028224" y="6061591"/>
            <a:ext cx="6056352"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0" name="Text 8"/>
          <p:cNvSpPr/>
          <p:nvPr/>
        </p:nvSpPr>
        <p:spPr>
          <a:xfrm>
            <a:off x="7545824" y="6061591"/>
            <a:ext cx="6056352"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1148"/>
          </a:xfrm>
          <a:prstGeom prst="rect">
            <a:avLst/>
          </a:prstGeom>
        </p:spPr>
      </p:pic>
      <p:sp>
        <p:nvSpPr>
          <p:cNvPr id="3" name="Text 0"/>
          <p:cNvSpPr/>
          <p:nvPr/>
        </p:nvSpPr>
        <p:spPr>
          <a:xfrm>
            <a:off x="6258044" y="606266"/>
            <a:ext cx="7600712" cy="1378029"/>
          </a:xfrm>
          <a:prstGeom prst="rect">
            <a:avLst/>
          </a:prstGeom>
          <a:noFill/>
          <a:ln/>
        </p:spPr>
        <p:txBody>
          <a:bodyPr wrap="square" lIns="0" tIns="0" rIns="0" bIns="0" rtlCol="0" anchor="t"/>
          <a:lstStyle/>
          <a:p>
            <a:pPr marL="0" indent="0" algn="l">
              <a:lnSpc>
                <a:spcPts val="5400"/>
              </a:lnSpc>
              <a:buNone/>
            </a:pPr>
            <a:r>
              <a:rPr lang="en-US" sz="4300" dirty="0">
                <a:solidFill>
                  <a:srgbClr val="74767D"/>
                </a:solidFill>
                <a:latin typeface="Montserrat Medium" pitchFamily="34" charset="0"/>
                <a:ea typeface="Montserrat Medium" pitchFamily="34" charset="-122"/>
                <a:cs typeface="Montserrat Medium" pitchFamily="34" charset="-120"/>
              </a:rPr>
              <a:t>Tổng Kết và Hướng Phát Triển</a:t>
            </a:r>
            <a:endParaRPr lang="en-US" sz="4300" dirty="0"/>
          </a:p>
        </p:txBody>
      </p:sp>
      <p:sp>
        <p:nvSpPr>
          <p:cNvPr id="4" name="Shape 1"/>
          <p:cNvSpPr/>
          <p:nvPr/>
        </p:nvSpPr>
        <p:spPr>
          <a:xfrm>
            <a:off x="6258044" y="2314932"/>
            <a:ext cx="881896" cy="1623060"/>
          </a:xfrm>
          <a:prstGeom prst="roundRect">
            <a:avLst>
              <a:gd name="adj" fmla="val 360040"/>
            </a:avLst>
          </a:prstGeom>
          <a:solidFill>
            <a:srgbClr val="EFF0F6"/>
          </a:solidFill>
          <a:ln w="7620">
            <a:solidFill>
              <a:srgbClr val="C5C7D2"/>
            </a:solidFill>
            <a:prstDash val="solid"/>
          </a:ln>
        </p:spPr>
        <p:txBody>
          <a:bodyPr/>
          <a:lstStyle/>
          <a:p>
            <a:endParaRPr lang="en-US"/>
          </a:p>
        </p:txBody>
      </p:sp>
      <p:sp>
        <p:nvSpPr>
          <p:cNvPr id="5" name="Text 2"/>
          <p:cNvSpPr/>
          <p:nvPr/>
        </p:nvSpPr>
        <p:spPr>
          <a:xfrm>
            <a:off x="6533674" y="2919770"/>
            <a:ext cx="330637" cy="413385"/>
          </a:xfrm>
          <a:prstGeom prst="rect">
            <a:avLst/>
          </a:prstGeom>
          <a:noFill/>
          <a:ln/>
        </p:spPr>
        <p:txBody>
          <a:bodyPr wrap="none" lIns="0" tIns="0" rIns="0" bIns="0" rtlCol="0" anchor="t"/>
          <a:lstStyle/>
          <a:p>
            <a:pPr marL="0" indent="0" algn="l">
              <a:lnSpc>
                <a:spcPts val="2600"/>
              </a:lnSpc>
              <a:buNone/>
            </a:pPr>
            <a:r>
              <a:rPr lang="en-US" sz="2600" dirty="0">
                <a:solidFill>
                  <a:srgbClr val="3D3E44"/>
                </a:solidFill>
                <a:latin typeface="Montserrat Medium" pitchFamily="34" charset="0"/>
                <a:ea typeface="Montserrat Medium" pitchFamily="34" charset="-122"/>
                <a:cs typeface="Montserrat Medium" pitchFamily="34" charset="-120"/>
              </a:rPr>
              <a:t>1</a:t>
            </a:r>
            <a:endParaRPr lang="en-US" sz="2600" dirty="0"/>
          </a:p>
        </p:txBody>
      </p:sp>
      <p:sp>
        <p:nvSpPr>
          <p:cNvPr id="6" name="Text 3"/>
          <p:cNvSpPr/>
          <p:nvPr/>
        </p:nvSpPr>
        <p:spPr>
          <a:xfrm>
            <a:off x="7360325" y="2535317"/>
            <a:ext cx="2756178" cy="344448"/>
          </a:xfrm>
          <a:prstGeom prst="rect">
            <a:avLst/>
          </a:prstGeom>
          <a:noFill/>
          <a:ln/>
        </p:spPr>
        <p:txBody>
          <a:bodyPr wrap="none" lIns="0" tIns="0" rIns="0" bIns="0" rtlCol="0" anchor="t"/>
          <a:lstStyle/>
          <a:p>
            <a:pPr marL="0" indent="0" algn="l">
              <a:lnSpc>
                <a:spcPts val="2700"/>
              </a:lnSpc>
              <a:buNone/>
            </a:pPr>
            <a:r>
              <a:rPr lang="en-US" sz="2150" dirty="0">
                <a:solidFill>
                  <a:srgbClr val="3D3E44"/>
                </a:solidFill>
                <a:latin typeface="Montserrat Medium" pitchFamily="34" charset="0"/>
                <a:ea typeface="Montserrat Medium" pitchFamily="34" charset="-122"/>
                <a:cs typeface="Montserrat Medium" pitchFamily="34" charset="-120"/>
              </a:rPr>
              <a:t>Hiệu Quả Của SA</a:t>
            </a:r>
            <a:endParaRPr lang="en-US" sz="2150" dirty="0"/>
          </a:p>
        </p:txBody>
      </p:sp>
      <p:sp>
        <p:nvSpPr>
          <p:cNvPr id="7" name="Text 4"/>
          <p:cNvSpPr/>
          <p:nvPr/>
        </p:nvSpPr>
        <p:spPr>
          <a:xfrm>
            <a:off x="7360325" y="3012043"/>
            <a:ext cx="6498431" cy="705564"/>
          </a:xfrm>
          <a:prstGeom prst="rect">
            <a:avLst/>
          </a:prstGeom>
          <a:noFill/>
          <a:ln/>
        </p:spPr>
        <p:txBody>
          <a:bodyPr wrap="square" lIns="0" tIns="0" rIns="0" bIns="0" rtlCol="0" anchor="t"/>
          <a:lstStyle/>
          <a:p>
            <a:pPr marL="0" indent="0" algn="l">
              <a:lnSpc>
                <a:spcPts val="2750"/>
              </a:lnSpc>
              <a:buNone/>
            </a:pPr>
            <a:r>
              <a:rPr lang="en-US" sz="1700" dirty="0">
                <a:solidFill>
                  <a:srgbClr val="3D3E44"/>
                </a:solidFill>
                <a:latin typeface="Inter Light" pitchFamily="34" charset="0"/>
                <a:ea typeface="Inter Light" pitchFamily="34" charset="-122"/>
                <a:cs typeface="Inter Light" pitchFamily="34" charset="-120"/>
              </a:rPr>
              <a:t>Simulated Annealing và Hill Climbing với Random Restarts tỏ ra hiệu quả và ổn định cho cả TSP và N-Queens.</a:t>
            </a:r>
            <a:endParaRPr lang="en-US" sz="1700" dirty="0"/>
          </a:p>
        </p:txBody>
      </p:sp>
      <p:sp>
        <p:nvSpPr>
          <p:cNvPr id="8" name="Shape 5"/>
          <p:cNvSpPr/>
          <p:nvPr/>
        </p:nvSpPr>
        <p:spPr>
          <a:xfrm>
            <a:off x="6258044" y="4158377"/>
            <a:ext cx="881896" cy="1623060"/>
          </a:xfrm>
          <a:prstGeom prst="roundRect">
            <a:avLst>
              <a:gd name="adj" fmla="val 360040"/>
            </a:avLst>
          </a:prstGeom>
          <a:solidFill>
            <a:srgbClr val="EFF0F6"/>
          </a:solidFill>
          <a:ln w="7620">
            <a:solidFill>
              <a:srgbClr val="C5C7D2"/>
            </a:solidFill>
            <a:prstDash val="solid"/>
          </a:ln>
        </p:spPr>
        <p:txBody>
          <a:bodyPr/>
          <a:lstStyle/>
          <a:p>
            <a:endParaRPr lang="en-US"/>
          </a:p>
        </p:txBody>
      </p:sp>
      <p:sp>
        <p:nvSpPr>
          <p:cNvPr id="9" name="Text 6"/>
          <p:cNvSpPr/>
          <p:nvPr/>
        </p:nvSpPr>
        <p:spPr>
          <a:xfrm>
            <a:off x="6533674" y="4763214"/>
            <a:ext cx="330637" cy="413385"/>
          </a:xfrm>
          <a:prstGeom prst="rect">
            <a:avLst/>
          </a:prstGeom>
          <a:noFill/>
          <a:ln/>
        </p:spPr>
        <p:txBody>
          <a:bodyPr wrap="none" lIns="0" tIns="0" rIns="0" bIns="0" rtlCol="0" anchor="t"/>
          <a:lstStyle/>
          <a:p>
            <a:pPr marL="0" indent="0" algn="l">
              <a:lnSpc>
                <a:spcPts val="2600"/>
              </a:lnSpc>
              <a:buNone/>
            </a:pPr>
            <a:r>
              <a:rPr lang="en-US" sz="2600" dirty="0">
                <a:solidFill>
                  <a:srgbClr val="3D3E44"/>
                </a:solidFill>
                <a:latin typeface="Montserrat Medium" pitchFamily="34" charset="0"/>
                <a:ea typeface="Montserrat Medium" pitchFamily="34" charset="-122"/>
                <a:cs typeface="Montserrat Medium" pitchFamily="34" charset="-120"/>
              </a:rPr>
              <a:t>2</a:t>
            </a:r>
            <a:endParaRPr lang="en-US" sz="2600" dirty="0"/>
          </a:p>
        </p:txBody>
      </p:sp>
      <p:sp>
        <p:nvSpPr>
          <p:cNvPr id="10" name="Text 7"/>
          <p:cNvSpPr/>
          <p:nvPr/>
        </p:nvSpPr>
        <p:spPr>
          <a:xfrm>
            <a:off x="7360325" y="4378762"/>
            <a:ext cx="2756178" cy="344448"/>
          </a:xfrm>
          <a:prstGeom prst="rect">
            <a:avLst/>
          </a:prstGeom>
          <a:noFill/>
          <a:ln/>
        </p:spPr>
        <p:txBody>
          <a:bodyPr wrap="none" lIns="0" tIns="0" rIns="0" bIns="0" rtlCol="0" anchor="t"/>
          <a:lstStyle/>
          <a:p>
            <a:pPr marL="0" indent="0" algn="l">
              <a:lnSpc>
                <a:spcPts val="2700"/>
              </a:lnSpc>
              <a:buNone/>
            </a:pPr>
            <a:r>
              <a:rPr lang="en-US" sz="2150" dirty="0">
                <a:solidFill>
                  <a:srgbClr val="3D3E44"/>
                </a:solidFill>
                <a:latin typeface="Montserrat Medium" pitchFamily="34" charset="0"/>
                <a:ea typeface="Montserrat Medium" pitchFamily="34" charset="-122"/>
                <a:cs typeface="Montserrat Medium" pitchFamily="34" charset="-120"/>
              </a:rPr>
              <a:t>Khả Năng Mở Rộng</a:t>
            </a:r>
            <a:endParaRPr lang="en-US" sz="2150" dirty="0"/>
          </a:p>
        </p:txBody>
      </p:sp>
      <p:sp>
        <p:nvSpPr>
          <p:cNvPr id="11" name="Text 8"/>
          <p:cNvSpPr/>
          <p:nvPr/>
        </p:nvSpPr>
        <p:spPr>
          <a:xfrm>
            <a:off x="7360325" y="4855488"/>
            <a:ext cx="6498431" cy="705564"/>
          </a:xfrm>
          <a:prstGeom prst="rect">
            <a:avLst/>
          </a:prstGeom>
          <a:noFill/>
          <a:ln/>
        </p:spPr>
        <p:txBody>
          <a:bodyPr wrap="square" lIns="0" tIns="0" rIns="0" bIns="0" rtlCol="0" anchor="t"/>
          <a:lstStyle/>
          <a:p>
            <a:pPr marL="0" indent="0" algn="l">
              <a:lnSpc>
                <a:spcPts val="2750"/>
              </a:lnSpc>
              <a:buNone/>
            </a:pPr>
            <a:r>
              <a:rPr lang="en-US" sz="1700" dirty="0">
                <a:solidFill>
                  <a:srgbClr val="3D3E44"/>
                </a:solidFill>
                <a:latin typeface="Inter Light" pitchFamily="34" charset="0"/>
                <a:ea typeface="Inter Light" pitchFamily="34" charset="-122"/>
                <a:cs typeface="Inter Light" pitchFamily="34" charset="-120"/>
              </a:rPr>
              <a:t>Khi kích thước bài toán tăng (N lớn), SA mở rộng tốt hơn Steepest Ascend HC.</a:t>
            </a:r>
            <a:endParaRPr lang="en-US" sz="1700" dirty="0"/>
          </a:p>
        </p:txBody>
      </p:sp>
      <p:sp>
        <p:nvSpPr>
          <p:cNvPr id="12" name="Shape 9"/>
          <p:cNvSpPr/>
          <p:nvPr/>
        </p:nvSpPr>
        <p:spPr>
          <a:xfrm>
            <a:off x="6258044" y="6001822"/>
            <a:ext cx="881896" cy="1623060"/>
          </a:xfrm>
          <a:prstGeom prst="roundRect">
            <a:avLst>
              <a:gd name="adj" fmla="val 360040"/>
            </a:avLst>
          </a:prstGeom>
          <a:solidFill>
            <a:srgbClr val="EFF0F6"/>
          </a:solidFill>
          <a:ln w="7620">
            <a:solidFill>
              <a:srgbClr val="C5C7D2"/>
            </a:solidFill>
            <a:prstDash val="solid"/>
          </a:ln>
        </p:spPr>
        <p:txBody>
          <a:bodyPr/>
          <a:lstStyle/>
          <a:p>
            <a:endParaRPr lang="en-US"/>
          </a:p>
        </p:txBody>
      </p:sp>
      <p:sp>
        <p:nvSpPr>
          <p:cNvPr id="13" name="Text 10"/>
          <p:cNvSpPr/>
          <p:nvPr/>
        </p:nvSpPr>
        <p:spPr>
          <a:xfrm>
            <a:off x="6533674" y="6606659"/>
            <a:ext cx="330637" cy="413385"/>
          </a:xfrm>
          <a:prstGeom prst="rect">
            <a:avLst/>
          </a:prstGeom>
          <a:noFill/>
          <a:ln/>
        </p:spPr>
        <p:txBody>
          <a:bodyPr wrap="none" lIns="0" tIns="0" rIns="0" bIns="0" rtlCol="0" anchor="t"/>
          <a:lstStyle/>
          <a:p>
            <a:pPr marL="0" indent="0" algn="l">
              <a:lnSpc>
                <a:spcPts val="2600"/>
              </a:lnSpc>
              <a:buNone/>
            </a:pPr>
            <a:r>
              <a:rPr lang="en-US" sz="2600" dirty="0">
                <a:solidFill>
                  <a:srgbClr val="3D3E44"/>
                </a:solidFill>
                <a:latin typeface="Montserrat Medium" pitchFamily="34" charset="0"/>
                <a:ea typeface="Montserrat Medium" pitchFamily="34" charset="-122"/>
                <a:cs typeface="Montserrat Medium" pitchFamily="34" charset="-120"/>
              </a:rPr>
              <a:t>3</a:t>
            </a:r>
            <a:endParaRPr lang="en-US" sz="2600" dirty="0"/>
          </a:p>
        </p:txBody>
      </p:sp>
      <p:sp>
        <p:nvSpPr>
          <p:cNvPr id="14" name="Text 11"/>
          <p:cNvSpPr/>
          <p:nvPr/>
        </p:nvSpPr>
        <p:spPr>
          <a:xfrm>
            <a:off x="7360325" y="6222206"/>
            <a:ext cx="2756178" cy="344448"/>
          </a:xfrm>
          <a:prstGeom prst="rect">
            <a:avLst/>
          </a:prstGeom>
          <a:noFill/>
          <a:ln/>
        </p:spPr>
        <p:txBody>
          <a:bodyPr wrap="none" lIns="0" tIns="0" rIns="0" bIns="0" rtlCol="0" anchor="t"/>
          <a:lstStyle/>
          <a:p>
            <a:pPr marL="0" indent="0" algn="l">
              <a:lnSpc>
                <a:spcPts val="2700"/>
              </a:lnSpc>
              <a:buNone/>
            </a:pPr>
            <a:r>
              <a:rPr lang="en-US" sz="2150" dirty="0">
                <a:solidFill>
                  <a:srgbClr val="3D3E44"/>
                </a:solidFill>
                <a:latin typeface="Montserrat Medium" pitchFamily="34" charset="0"/>
                <a:ea typeface="Montserrat Medium" pitchFamily="34" charset="-122"/>
                <a:cs typeface="Montserrat Medium" pitchFamily="34" charset="-120"/>
              </a:rPr>
              <a:t>Hướng Phát Triển</a:t>
            </a:r>
            <a:endParaRPr lang="en-US" sz="2150" dirty="0"/>
          </a:p>
        </p:txBody>
      </p:sp>
      <p:sp>
        <p:nvSpPr>
          <p:cNvPr id="15" name="Text 12"/>
          <p:cNvSpPr/>
          <p:nvPr/>
        </p:nvSpPr>
        <p:spPr>
          <a:xfrm>
            <a:off x="7360325" y="6698933"/>
            <a:ext cx="6498431" cy="705564"/>
          </a:xfrm>
          <a:prstGeom prst="rect">
            <a:avLst/>
          </a:prstGeom>
          <a:noFill/>
          <a:ln/>
        </p:spPr>
        <p:txBody>
          <a:bodyPr wrap="square" lIns="0" tIns="0" rIns="0" bIns="0" rtlCol="0" anchor="t"/>
          <a:lstStyle/>
          <a:p>
            <a:pPr marL="0" indent="0" algn="l">
              <a:lnSpc>
                <a:spcPts val="2750"/>
              </a:lnSpc>
              <a:buNone/>
            </a:pPr>
            <a:r>
              <a:rPr lang="en-US" sz="1700" dirty="0">
                <a:solidFill>
                  <a:srgbClr val="3D3E44"/>
                </a:solidFill>
                <a:latin typeface="Inter Light" pitchFamily="34" charset="0"/>
                <a:ea typeface="Inter Light" pitchFamily="34" charset="-122"/>
                <a:cs typeface="Inter Light" pitchFamily="34" charset="-120"/>
              </a:rPr>
              <a:t>Thử nghiệm trên dữ liệu chuẩn (TSPLIB), điều chỉnh tham số tối ưu, và kết hợp các phương pháp (Hybrid Metaheuristic).</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2002</Words>
  <Application>Microsoft Office PowerPoint</Application>
  <PresentationFormat>Custom</PresentationFormat>
  <Paragraphs>242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Montserrat Medium</vt:lpstr>
      <vt:lpstr>Arial</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Hồ Văn Quyến</cp:lastModifiedBy>
  <cp:revision>2</cp:revision>
  <dcterms:created xsi:type="dcterms:W3CDTF">2025-10-08T05:11:24Z</dcterms:created>
  <dcterms:modified xsi:type="dcterms:W3CDTF">2025-10-08T05:18:26Z</dcterms:modified>
</cp:coreProperties>
</file>